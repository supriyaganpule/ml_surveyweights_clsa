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4018" r:id="rId1"/>
  </p:sldMasterIdLst>
  <p:notesMasterIdLst>
    <p:notesMasterId r:id="rId45"/>
  </p:notesMasterIdLst>
  <p:sldIdLst>
    <p:sldId id="256" r:id="rId2"/>
    <p:sldId id="279" r:id="rId3"/>
    <p:sldId id="328" r:id="rId4"/>
    <p:sldId id="329" r:id="rId5"/>
    <p:sldId id="260" r:id="rId6"/>
    <p:sldId id="308" r:id="rId7"/>
    <p:sldId id="310" r:id="rId8"/>
    <p:sldId id="305" r:id="rId9"/>
    <p:sldId id="311" r:id="rId10"/>
    <p:sldId id="285" r:id="rId11"/>
    <p:sldId id="261" r:id="rId12"/>
    <p:sldId id="282" r:id="rId13"/>
    <p:sldId id="326" r:id="rId14"/>
    <p:sldId id="286" r:id="rId15"/>
    <p:sldId id="283" r:id="rId16"/>
    <p:sldId id="287" r:id="rId17"/>
    <p:sldId id="312" r:id="rId18"/>
    <p:sldId id="313" r:id="rId19"/>
    <p:sldId id="265" r:id="rId20"/>
    <p:sldId id="266" r:id="rId21"/>
    <p:sldId id="288" r:id="rId22"/>
    <p:sldId id="314" r:id="rId23"/>
    <p:sldId id="315" r:id="rId24"/>
    <p:sldId id="302" r:id="rId25"/>
    <p:sldId id="316" r:id="rId26"/>
    <p:sldId id="271" r:id="rId27"/>
    <p:sldId id="317" r:id="rId28"/>
    <p:sldId id="273" r:id="rId29"/>
    <p:sldId id="318" r:id="rId30"/>
    <p:sldId id="275" r:id="rId31"/>
    <p:sldId id="264" r:id="rId32"/>
    <p:sldId id="292" r:id="rId33"/>
    <p:sldId id="319" r:id="rId34"/>
    <p:sldId id="291" r:id="rId35"/>
    <p:sldId id="320" r:id="rId36"/>
    <p:sldId id="294" r:id="rId37"/>
    <p:sldId id="321" r:id="rId38"/>
    <p:sldId id="298" r:id="rId39"/>
    <p:sldId id="322" r:id="rId40"/>
    <p:sldId id="323" r:id="rId41"/>
    <p:sldId id="324" r:id="rId42"/>
    <p:sldId id="325" r:id="rId43"/>
    <p:sldId id="306" r:id="rId44"/>
  </p:sldIdLst>
  <p:sldSz cx="12192000" cy="6858000"/>
  <p:notesSz cx="6858000" cy="9144000"/>
  <p:custDataLst>
    <p:tags r:id="rId4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851A2DE-41C7-4CAD-AA63-918006535511}">
          <p14:sldIdLst>
            <p14:sldId id="256"/>
            <p14:sldId id="279"/>
            <p14:sldId id="328"/>
            <p14:sldId id="329"/>
            <p14:sldId id="260"/>
            <p14:sldId id="308"/>
            <p14:sldId id="310"/>
            <p14:sldId id="305"/>
            <p14:sldId id="311"/>
            <p14:sldId id="285"/>
            <p14:sldId id="261"/>
            <p14:sldId id="282"/>
            <p14:sldId id="326"/>
            <p14:sldId id="286"/>
            <p14:sldId id="283"/>
            <p14:sldId id="287"/>
            <p14:sldId id="312"/>
            <p14:sldId id="313"/>
            <p14:sldId id="265"/>
            <p14:sldId id="266"/>
            <p14:sldId id="288"/>
            <p14:sldId id="314"/>
            <p14:sldId id="315"/>
            <p14:sldId id="302"/>
            <p14:sldId id="316"/>
            <p14:sldId id="271"/>
            <p14:sldId id="317"/>
            <p14:sldId id="273"/>
            <p14:sldId id="318"/>
            <p14:sldId id="275"/>
            <p14:sldId id="264"/>
            <p14:sldId id="292"/>
            <p14:sldId id="319"/>
            <p14:sldId id="291"/>
            <p14:sldId id="320"/>
            <p14:sldId id="294"/>
            <p14:sldId id="321"/>
            <p14:sldId id="298"/>
            <p14:sldId id="322"/>
            <p14:sldId id="323"/>
            <p14:sldId id="324"/>
            <p14:sldId id="325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F453D4F-C0B6-3DF1-A2E2-80D5ED16E6FA}" name="Supriya Ganpule" initials="SG" userId="9d37b004a3e03b5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51" autoAdjust="0"/>
  </p:normalViewPr>
  <p:slideViewPr>
    <p:cSldViewPr snapToGrid="0">
      <p:cViewPr varScale="1">
        <p:scale>
          <a:sx n="74" d="100"/>
          <a:sy n="74" d="100"/>
        </p:scale>
        <p:origin x="1042" y="77"/>
      </p:cViewPr>
      <p:guideLst/>
    </p:cSldViewPr>
  </p:slideViewPr>
  <p:outlineViewPr>
    <p:cViewPr>
      <p:scale>
        <a:sx n="33" d="100"/>
        <a:sy n="33" d="100"/>
      </p:scale>
      <p:origin x="0" y="-3327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27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8/10/relationships/authors" Target="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7D8F-10B7-4C82-AF03-B22903970116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2B76-8ED0-4D6F-B5E1-A2F731478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D902-36A7-4CAC-BEF2-923D6826F8E2}" type="datetime1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003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68440"/>
          </a:xfrm>
        </p:spPr>
        <p:txBody>
          <a:bodyPr>
            <a:normAutofit/>
          </a:bodyPr>
          <a:lstStyle>
            <a:lvl1pPr marL="0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2460" y="1845734"/>
            <a:ext cx="1005840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7E082-FBF4-4C4F-93E2-9F6AF5565D1D}" type="datetime1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242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DA1EA-A2CA-437D-B028-EC08FF1E3654}" type="datetime1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094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07126-39A1-476E-B898-481952E2B044}" type="datetime1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21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F2B17-1ADC-4706-A5B2-12F638C92B3A}" type="datetime1">
              <a:rPr lang="en-US" smtClean="0"/>
              <a:t>4/10/2023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855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347A-DB2D-40EF-8F22-3797131195C8}" type="datetime1">
              <a:rPr lang="en-US" smtClean="0"/>
              <a:t>4/10/2023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41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43B7-ECEA-4457-9B24-16696F421970}" type="datetime1">
              <a:rPr lang="en-US" smtClean="0"/>
              <a:t>4/10/2023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Supriya Ganpule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31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02822F1-6343-4066-A50A-9F784A8518AD}" type="datetime1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Supriya Ganpule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2073C8E-7236-4AAF-8219-5FBF0E390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149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FAE0B-E032-40BD-AE85-2C77BBCF49B3}" type="datetime1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64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DA7C-1736-4FEA-97E0-8CF6E2075144}" type="datetime1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533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08FBF-27DD-4A8C-90BC-7211C58F6C3B}" type="datetime1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81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13A8190-9E82-4B60-8483-4F1E4132FD3A}" type="datetime1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Supriya Ganpule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2073C8E-7236-4AAF-8219-5FBF0E3903E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149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9" r:id="rId1"/>
    <p:sldLayoutId id="2147484020" r:id="rId2"/>
    <p:sldLayoutId id="2147484021" r:id="rId3"/>
    <p:sldLayoutId id="2147484022" r:id="rId4"/>
    <p:sldLayoutId id="2147484023" r:id="rId5"/>
    <p:sldLayoutId id="2147484024" r:id="rId6"/>
    <p:sldLayoutId id="2147484025" r:id="rId7"/>
    <p:sldLayoutId id="2147484026" r:id="rId8"/>
    <p:sldLayoutId id="2147484027" r:id="rId9"/>
    <p:sldLayoutId id="2147484028" r:id="rId10"/>
    <p:sldLayoutId id="214748402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sv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F4217-BDF4-D3D5-CD59-DBE4D3BFF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-638680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latin typeface="+mn-lt"/>
              </a:rPr>
              <a:t>The Use of survey weights in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3D39E4-615A-4DD9-8A8A-9BA150775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4412975"/>
            <a:ext cx="5866664" cy="2226364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n-lt"/>
              </a:rPr>
              <a:t>Presenter : Supriya Ganpule</a:t>
            </a:r>
          </a:p>
          <a:p>
            <a:pPr algn="l"/>
            <a:r>
              <a:rPr lang="en-US" sz="2400" dirty="0">
                <a:latin typeface="+mn-lt"/>
              </a:rPr>
              <a:t>Advisor     : Professor Hon Yiu So</a:t>
            </a:r>
          </a:p>
          <a:p>
            <a:pPr algn="l"/>
            <a:r>
              <a:rPr lang="en-US" sz="1400" spc="0" dirty="0">
                <a:latin typeface="+mn-lt"/>
              </a:rPr>
              <a:t>Oakland University</a:t>
            </a:r>
          </a:p>
          <a:p>
            <a:pPr algn="l"/>
            <a:r>
              <a:rPr lang="en-US" sz="1400" spc="0" dirty="0">
                <a:latin typeface="+mn-lt"/>
              </a:rPr>
              <a:t>Department of Mathematics and statistics</a:t>
            </a:r>
            <a:endParaRPr lang="en-US" sz="2400" dirty="0">
              <a:latin typeface="+mn-lt"/>
            </a:endParaRP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8DA3C4CD-9433-1841-C75D-2EF7416252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093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2913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323AD-05AA-8D90-4D0A-DF5052EEA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5323715" cy="953154"/>
          </a:xfrm>
        </p:spPr>
        <p:txBody>
          <a:bodyPr anchor="b">
            <a:normAutofit/>
          </a:bodyPr>
          <a:lstStyle/>
          <a:p>
            <a:r>
              <a:rPr lang="en-US" sz="3200" dirty="0">
                <a:latin typeface="+mn-lt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9C7EC-6330-A390-11E6-668BF15A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2400">
                <a:latin typeface="+mn-lt"/>
              </a:rPr>
              <a:t>Introduction</a:t>
            </a:r>
          </a:p>
          <a:p>
            <a:r>
              <a:rPr lang="en-US" sz="2400">
                <a:latin typeface="+mn-lt"/>
              </a:rPr>
              <a:t>Survey weights</a:t>
            </a:r>
          </a:p>
          <a:p>
            <a:r>
              <a:rPr lang="en-US" sz="2400">
                <a:latin typeface="+mn-lt"/>
              </a:rPr>
              <a:t>Sampling designs</a:t>
            </a:r>
          </a:p>
          <a:p>
            <a:r>
              <a:rPr lang="en-US" sz="2400">
                <a:latin typeface="+mn-lt"/>
              </a:rPr>
              <a:t>Population prevalence</a:t>
            </a:r>
          </a:p>
          <a:p>
            <a:r>
              <a:rPr lang="en-US" sz="2400">
                <a:latin typeface="+mn-lt"/>
              </a:rPr>
              <a:t>Prevalence estimation methods</a:t>
            </a:r>
          </a:p>
          <a:p>
            <a:r>
              <a:rPr lang="en-US" sz="2400">
                <a:latin typeface="+mn-lt"/>
              </a:rPr>
              <a:t>Simulation study </a:t>
            </a:r>
          </a:p>
          <a:p>
            <a:r>
              <a:rPr lang="en-US" sz="2400">
                <a:latin typeface="+mn-lt"/>
              </a:rPr>
              <a:t>Conclusion</a:t>
            </a:r>
          </a:p>
          <a:p>
            <a:pPr marL="0" indent="0">
              <a:buNone/>
            </a:pPr>
            <a:endParaRPr lang="en-US" sz="2400">
              <a:latin typeface="+mn-lt"/>
            </a:endParaRPr>
          </a:p>
          <a:p>
            <a:pPr marL="0" indent="0">
              <a:buNone/>
            </a:pPr>
            <a:endParaRPr lang="en-US" sz="2400">
              <a:latin typeface="+mn-lt"/>
            </a:endParaRPr>
          </a:p>
          <a:p>
            <a:pPr marL="0" indent="0">
              <a:buNone/>
            </a:pPr>
            <a:endParaRPr lang="en-US" sz="240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E4967-1414-302B-4E83-E9C9D1C65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AF93039C-F85A-AAB6-77DC-7D195410A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2</a:t>
            </a:fld>
            <a:endParaRPr lang="en-US" dirty="0"/>
          </a:p>
        </p:txBody>
      </p:sp>
      <p:pic>
        <p:nvPicPr>
          <p:cNvPr id="7" name="Graphic 6" descr="Books">
            <a:extLst>
              <a:ext uri="{FF2B5EF4-FFF2-40B4-BE49-F238E27FC236}">
                <a16:creationId xmlns:a16="http://schemas.microsoft.com/office/drawing/2014/main" id="{38E4C093-3915-3686-C489-7D391B1791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5967" y="1359681"/>
            <a:ext cx="4170530" cy="417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645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3A701-706D-7FEA-7F59-82EAC9646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2"/>
            <a:ext cx="9688296" cy="815502"/>
          </a:xfrm>
        </p:spPr>
        <p:txBody>
          <a:bodyPr anchor="b">
            <a:normAutofit/>
          </a:bodyPr>
          <a:lstStyle/>
          <a:p>
            <a:r>
              <a:rPr lang="en-US" sz="3200" dirty="0">
                <a:latin typeface="+mn-lt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55CD1-6020-1E22-C1A8-964EC5829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9"/>
            <a:ext cx="9688296" cy="3454358"/>
          </a:xfrm>
        </p:spPr>
        <p:txBody>
          <a:bodyPr anchor="t">
            <a:normAutofit/>
          </a:bodyPr>
          <a:lstStyle/>
          <a:p>
            <a:r>
              <a:rPr lang="en-US" sz="2400" b="0" i="0">
                <a:effectLst/>
                <a:latin typeface="+mn-lt"/>
              </a:rPr>
              <a:t>Sampling weights are used in survey research and machine learning. </a:t>
            </a:r>
          </a:p>
          <a:p>
            <a:r>
              <a:rPr lang="en-US" sz="2400" b="0" i="0">
                <a:effectLst/>
                <a:latin typeface="+mn-lt"/>
              </a:rPr>
              <a:t>They reverse the distortion caused by different sampling probabilities </a:t>
            </a:r>
          </a:p>
          <a:p>
            <a:r>
              <a:rPr lang="en-US" sz="2400" b="0" i="0">
                <a:effectLst/>
                <a:latin typeface="+mn-lt"/>
              </a:rPr>
              <a:t>This project will explore the importance of survey weights in machine learning. </a:t>
            </a:r>
          </a:p>
          <a:p>
            <a:r>
              <a:rPr lang="en-US" sz="2400" b="0" i="0">
                <a:effectLst/>
                <a:latin typeface="+mn-lt"/>
              </a:rPr>
              <a:t>Includes Simulation results of design and model-assisted methods with and without survey weights </a:t>
            </a:r>
            <a:endParaRPr lang="en-US" sz="240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EFADD7-222D-52D2-1375-D2AB7AB8B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711A9-A643-FFF7-C6EA-AD4129E87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528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B1EB0-0EB1-0323-6011-CCA7155DC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6844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Survey weights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53286F-B9C6-4E8F-7FE0-1C2F856F09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+mn-lt"/>
                  </a:rPr>
                  <a:t>Weights is one of the crucial steps in surveys. Single weighting system is applicable to all the characteristics of interest.</a:t>
                </a:r>
              </a:p>
              <a:p>
                <a:r>
                  <a:rPr lang="en-US" dirty="0">
                    <a:latin typeface="+mn-lt"/>
                  </a:rPr>
                  <a:t>Denote population total as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𝑡𝑦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=∑ 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𝑦𝑘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𝑦𝑘 denotes the kth value of the characteristic of interest 𝑦, 𝑘 = 1,...,𝑁 </a:t>
                </a:r>
              </a:p>
              <a:p>
                <a:r>
                  <a:rPr lang="en-US" dirty="0">
                    <a:latin typeface="+mn-lt"/>
                  </a:rPr>
                  <a:t> Estimators of 𝑡𝑦 of the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 𝑤𝑘 is a weight attached to unit k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53286F-B9C6-4E8F-7FE0-1C2F856F09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15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678276-4C21-8A90-A00F-1AF3CE796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AFD6B5-B902-03CD-B1BB-7D36FE6B6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625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63AB4-9CD5-073C-CBA1-591A948DD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+mn-lt"/>
              </a:rPr>
              <a:t>Survey weights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0D7A3-D62C-12C3-1466-47ED67BE8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>
                <a:solidFill>
                  <a:srgbClr val="353740"/>
                </a:solidFill>
                <a:latin typeface="+mn-lt"/>
              </a:rPr>
              <a:t>Weight 𝑤𝑘 may vary from one unit to another and from one sample to another. </a:t>
            </a:r>
          </a:p>
          <a:p>
            <a:r>
              <a:rPr lang="en-US" sz="2400">
                <a:solidFill>
                  <a:srgbClr val="353740"/>
                </a:solidFill>
                <a:latin typeface="+mn-lt"/>
              </a:rPr>
              <a:t>Set {𝑤𝑘; 𝑘 ∈ 𝑆} is called a weighting system.</a:t>
            </a:r>
          </a:p>
          <a:p>
            <a:r>
              <a:rPr lang="en-US" sz="2400">
                <a:solidFill>
                  <a:srgbClr val="353740"/>
                </a:solidFill>
                <a:latin typeface="+mn-lt"/>
              </a:rPr>
              <a:t>Design weights are used to compensate for over- or under-sampling of specific cases or for disproportionate stratification.</a:t>
            </a:r>
          </a:p>
          <a:p>
            <a:r>
              <a:rPr lang="en-US" sz="2400">
                <a:solidFill>
                  <a:srgbClr val="353740"/>
                </a:solidFill>
                <a:latin typeface="+mn-lt"/>
              </a:rPr>
              <a:t>Design weights are used when we want the statistics to be representative of the population.</a:t>
            </a:r>
            <a:endParaRPr lang="en-US" sz="2400">
              <a:latin typeface="+mn-lt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b="0" i="0">
                <a:solidFill>
                  <a:srgbClr val="353740"/>
                </a:solidFill>
                <a:effectLst/>
                <a:latin typeface="+mn-lt"/>
              </a:rPr>
              <a:t>.</a:t>
            </a:r>
            <a:endParaRPr lang="en-US" sz="2400">
              <a:latin typeface="+mn-lt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sz="2400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3E09F4-619A-F3E1-9B83-6A4941C1D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C06BC9-538F-2F23-5EFD-5A8579F1D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068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ED48D-4179-CF3E-7EC1-150A3B031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Sampling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0EFAB3-953E-6B94-560B-C07C02A7B8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𝑈 is a finite population with 𝑁 units </a:t>
                </a:r>
              </a:p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2400" dirty="0">
                    <a:latin typeface="+mn-lt"/>
                  </a:rPr>
                  <a:t>, denoting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>
                    <a:latin typeface="+mn-lt"/>
                  </a:rPr>
                  <a:t> characteristics of the sampling units .</a:t>
                </a:r>
              </a:p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𝑆 is the sample from the finite population </a:t>
                </a:r>
              </a:p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We have 𝐻 strata and there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population units in strata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+mn-lt"/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sz="2400" dirty="0">
                    <a:latin typeface="+mn-lt"/>
                  </a:rPr>
                  <a:t> </a:t>
                </a:r>
                <a:endParaRPr lang="en-US" sz="2400" b="0" i="0" dirty="0">
                  <a:solidFill>
                    <a:srgbClr val="353740"/>
                  </a:solidFill>
                  <a:effectLst/>
                  <a:latin typeface="+mn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</a:t>
                </a:r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is a simple random sample without replacement (SRSWOR) from the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353740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 err="1" smtClean="0">
                        <a:solidFill>
                          <a:srgbClr val="353740"/>
                        </a:solidFill>
                        <a:latin typeface="Cambria Math" panose="02040503050406030204" pitchFamily="18" charset="0"/>
                      </a:rPr>
                      <m:t>𝑡h</m:t>
                    </m:r>
                  </m:oMath>
                </a14:m>
                <a:r>
                  <a:rPr lang="en-US" sz="2400" dirty="0">
                    <a:solidFill>
                      <a:srgbClr val="353740"/>
                    </a:solidFill>
                    <a:latin typeface="+mn-lt"/>
                  </a:rPr>
                  <a:t> </a:t>
                </a:r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stratum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sampled units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0EFAB3-953E-6B94-560B-C07C02A7B8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18" t="-2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6110C-4205-2E98-0960-37F000A0B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38C41-D58E-C955-35DB-D77246FA2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609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5D154-95AD-7588-0F0D-98501CDFD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Sampling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27000A-5FA2-A7BB-5671-69EF4DF7A9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Under SRSWOR assumption: sample weight of kth sampling unit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, if </a:t>
                </a:r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en-US" sz="2400" b="0" i="0" dirty="0">
                  <a:solidFill>
                    <a:srgbClr val="353740"/>
                  </a:solidFill>
                  <a:effectLst/>
                  <a:latin typeface="+mn-lt"/>
                </a:endParaRPr>
              </a:p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is reciprocal of first-order inclusion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=1/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=1|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i="0" dirty="0">
                  <a:latin typeface="+mn-lt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 = 1</m:t>
                    </m:r>
                  </m:oMath>
                </a14:m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 if k-th unit is selected in the sample S</a:t>
                </a:r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27000A-5FA2-A7BB-5671-69EF4DF7A9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9" t="-2121" r="-2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8A624D-380A-04AE-F8B0-4E27FB9BF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51007-F2E7-C2B6-04E3-5883A0F59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466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62C0EA9-3A81-D011-239A-FBD10B5EC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Sampling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6A3083-9D05-CF01-C8A3-5A1FF8EC79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marR="0" indent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US" sz="2400" dirty="0">
                    <a:latin typeface="+mn-lt"/>
                  </a:rPr>
                  <a:t>With this sampling design </a:t>
                </a:r>
                <a:r>
                  <a:rPr lang="en-US" sz="2400" dirty="0">
                    <a:effectLst/>
                    <a:latin typeface="+mn-lt"/>
                    <a:ea typeface="PMingLiU" panose="02020500000000000000" pitchFamily="18" charset="-120"/>
                  </a:rPr>
                  <a:t>the second-order inclusion probability as </a:t>
                </a:r>
              </a:p>
              <a:p>
                <a:pPr marL="0" marR="0" indent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 </m:t>
                      </m:r>
                      <m:func>
                        <m:func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=1,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=1|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𝑘𝑙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−1)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𝑎𝑛𝑑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/(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                   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6A3083-9D05-CF01-C8A3-5A1FF8EC79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18" t="-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54F621A-A925-3CB4-3729-600A1BADC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ADE004B-0471-ABF1-FEF2-AB48E4657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528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4CB1D-C4E7-697E-231F-FD6A044A1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>
                <a:latin typeface="+mn-lt"/>
              </a:rPr>
              <a:t>Population Prevalence</a:t>
            </a:r>
            <a:endParaRPr lang="en-US" sz="3200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5557F4-199D-2F4A-A4B6-5345719C00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Prevalence is the proportion of a population who have a specific characteristic in a given time period. </a:t>
                </a:r>
              </a:p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Y is the characteristic of interest and is dichotomous in nature.</a:t>
                </a:r>
              </a:p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X are the numerous attributes affecting Y. </a:t>
                </a:r>
              </a:p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Y is assumed to be random under the superpopulation 𝜉.</a:t>
                </a:r>
              </a:p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𝒙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+mn-lt"/>
                    <a:ea typeface="Cambria Math" panose="02040503050406030204" pitchFamily="18" charset="0"/>
                    <a:cs typeface="Cambria Math" panose="02040503050406030204" pitchFamily="18" charset="0"/>
                  </a:rPr>
                  <a:t>              (1)</a:t>
                </a:r>
              </a:p>
              <a:p>
                <a:pPr marL="0" indent="0">
                  <a:buNone/>
                </a:pPr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   where 𝜇(.) is the link function of covariate 𝑥.</a:t>
                </a:r>
              </a:p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The link function is any function that gives a value between 0 and 1, and it is unknown in most cases.</a:t>
                </a:r>
                <a:endParaRPr lang="en-US" sz="2400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5557F4-199D-2F4A-A4B6-5345719C00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9" t="-2121" r="-2303" b="-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1574DC-B3B6-A34C-A1AA-6E96DA3C9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F94CDC-B7AA-A94D-B454-ED61974B1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19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2DAD8B2-C8F4-FE2F-5E3C-7C2C33C0A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>
                <a:latin typeface="+mn-lt"/>
              </a:rPr>
              <a:t>Population Prevalence</a:t>
            </a:r>
            <a:endParaRPr lang="en-US" sz="32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4A243C-32A5-0493-24F6-FA86C4C75F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5F6368"/>
                    </a:solidFill>
                    <a:latin typeface="+mn-lt"/>
                  </a:rPr>
                  <a:t>Population prevalence can be calculated with the following equation;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𝑈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latin typeface="+mn-lt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+mn-lt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400" dirty="0">
                    <a:latin typeface="+mn-lt"/>
                  </a:rPr>
                  <a:t>=population total , </a:t>
                </a:r>
                <a:r>
                  <a:rPr lang="en-US" sz="2400" i="1" dirty="0">
                    <a:latin typeface="+mn-lt"/>
                  </a:rPr>
                  <a:t>N</a:t>
                </a:r>
                <a:r>
                  <a:rPr lang="en-US" sz="2400" dirty="0">
                    <a:latin typeface="+mn-lt"/>
                  </a:rPr>
                  <a:t>=population size,</a:t>
                </a:r>
                <a:r>
                  <a:rPr lang="en-US" sz="2400" dirty="0">
                    <a:latin typeface="+mn-lt"/>
                    <a:ea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>
                    <a:latin typeface="+mn-lt"/>
                  </a:rPr>
                  <a:t>=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latin typeface="+mn-lt"/>
                  </a:rPr>
                  <a:t>th value of the response variable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= 1,...,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+mn-lt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4A243C-32A5-0493-24F6-FA86C4C75F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18" t="-2121" r="-2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B43BC5-6AA2-0336-7373-65F789E3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0DDD64-8B51-21F5-ED4D-EE38BAF0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701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7E8A1-6E2B-F595-1259-397539FC3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>
                <a:latin typeface="+mn-lt"/>
              </a:rPr>
              <a:t>Prevalence Estimation Methods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27281-E338-B20B-56B2-F68CF3DA8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240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There are different methods which can be applied for prevalence estimation. Some of them are:</a:t>
            </a:r>
          </a:p>
          <a:p>
            <a:pPr marL="514350" indent="-514350" algn="just">
              <a:lnSpc>
                <a:spcPct val="11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Direct prevalence estimation</a:t>
            </a:r>
          </a:p>
          <a:p>
            <a:pPr marL="514350" indent="-514350" algn="just">
              <a:lnSpc>
                <a:spcPct val="11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Model based estimation (Logistic regression)</a:t>
            </a:r>
          </a:p>
          <a:p>
            <a:pPr marL="514350" indent="-514350" algn="just">
              <a:lnSpc>
                <a:spcPct val="11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Generalized regression (GREG) estimation</a:t>
            </a:r>
            <a:endParaRPr lang="en-US" sz="240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1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Neural network estimation</a:t>
            </a:r>
            <a:endParaRPr lang="en-US" sz="240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1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Model assisted estimation with the Difference estimator</a:t>
            </a:r>
            <a:endParaRPr lang="en-US" sz="240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>
                <a:latin typeface="+mn-lt"/>
              </a:rPr>
              <a:t>These methods are used to compute point estimates(Bias,RMSE) and confidence interval(width and coverage) for study purpose.</a:t>
            </a:r>
          </a:p>
          <a:p>
            <a:pPr marL="0" indent="0">
              <a:buNone/>
            </a:pPr>
            <a:endParaRPr lang="en-US" sz="2400">
              <a:latin typeface="+mn-lt"/>
            </a:endParaRPr>
          </a:p>
          <a:p>
            <a:pPr marL="0" indent="0">
              <a:buNone/>
            </a:pPr>
            <a:endParaRPr lang="en-US" sz="2400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E12709-81C4-86DD-1DCC-F296D7B0D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A81BA1-A559-CE1B-CCC3-E4D7FB2FB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848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9C3B8-D6A3-38F5-5575-E99C109D4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>
                <a:latin typeface="+mn-lt"/>
                <a:ea typeface="Cambria Math" panose="02040503050406030204" pitchFamily="18" charset="0"/>
                <a:cs typeface="Cambria Math" panose="02040503050406030204" pitchFamily="18" charset="0"/>
              </a:rPr>
              <a:t>Direct prevalence estimation</a:t>
            </a:r>
            <a:endParaRPr lang="en-US" sz="32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6AFEE0-C139-9560-3E6A-B3F50BAFB3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9148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latin typeface="+mn-lt"/>
                  </a:rPr>
                  <a:t>Determine the total population 𝑁 </a:t>
                </a:r>
              </a:p>
              <a:p>
                <a:r>
                  <a:rPr lang="en-US" sz="2400" dirty="0">
                    <a:latin typeface="+mn-lt"/>
                  </a:rPr>
                  <a:t>Calculate the average number of people having the disease conditions in the population </a:t>
                </a:r>
              </a:p>
              <a:p>
                <a:r>
                  <a:rPr lang="en-US" sz="2400" dirty="0">
                    <a:latin typeface="+mn-lt"/>
                  </a:rPr>
                  <a:t>Use the Horvitz - Thompson estimator to estimate the population prevalence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  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𝑈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latin typeface="+mn-lt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0" indent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is the indicator of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th unit defined as  </a:t>
                </a:r>
              </a:p>
              <a:p>
                <a:pPr marL="0" indent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th</m:t>
                                </m:r>
                                <m: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unit</m:t>
                                </m:r>
                                <m: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has</m:t>
                                </m:r>
                                <m: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disease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6AFEE0-C139-9560-3E6A-B3F50BAFB3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91485"/>
              </a:xfrm>
              <a:blipFill>
                <a:blip r:embed="rId2"/>
                <a:stretch>
                  <a:fillRect l="-928" t="-2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1AF473-1904-AA78-0D17-1E3E20AD1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544D23-0A3F-5926-3510-DB9D95033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148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6542C-375B-CBE4-2F83-C3E2C3D34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>
                <a:latin typeface="+mn-lt"/>
              </a:rPr>
              <a:t>Direct prevalence estimation</a:t>
            </a:r>
            <a:endParaRPr lang="en-US" sz="32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3D7727-E576-9AB0-0B81-4D059BEBBF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>
                    <a:latin typeface="+mn-lt"/>
                  </a:rPr>
                  <a:t>The design-based unbiased variance estimator is</a:t>
                </a:r>
              </a:p>
              <a:p>
                <a:r>
                  <a:rPr lang="en-US" sz="24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𝑆𝐸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∆</m:t>
                                </m:r>
                              </m:e>
                              <m:sub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𝑘𝑙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𝑘𝑙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en-US" sz="2400" dirty="0">
                  <a:latin typeface="+mn-lt"/>
                </a:endParaRPr>
              </a:p>
              <a:p>
                <a:r>
                  <a:rPr lang="en-US" sz="2400" dirty="0">
                    <a:latin typeface="+mn-lt"/>
                  </a:rPr>
                  <a:t>Where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𝑘𝑙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𝑘𝑙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US" sz="2400" dirty="0">
                  <a:latin typeface="+mn-lt"/>
                </a:endParaRPr>
              </a:p>
              <a:p>
                <a:r>
                  <a:rPr lang="en-US" sz="2400" dirty="0">
                    <a:latin typeface="+mn-lt"/>
                  </a:rPr>
                  <a:t>In case of stratified sampling if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sz="2400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2400" dirty="0">
                    <a:latin typeface="+mn-lt"/>
                  </a:rPr>
                  <a:t>,then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∆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𝑘𝑙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240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sub>
                                        </m:sSub>
                                        <m:r>
                                          <a:rPr lang="en-US" sz="240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US" sz="240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sub>
                                        </m:sSub>
                                        <m:r>
                                          <a:rPr lang="en-US" sz="240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den>
                                </m:f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>
                                                    <a:latin typeface="Cambria Math" panose="02040503050406030204" pitchFamily="18" charset="0"/>
                                                  </a:rPr>
                                                  <m:t>h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>
                                                    <a:latin typeface="Cambria Math" panose="02040503050406030204" pitchFamily="18" charset="0"/>
                                                  </a:rPr>
                                                  <m:t>𝑁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>
                                                    <a:latin typeface="Cambria Math" panose="02040503050406030204" pitchFamily="18" charset="0"/>
                                                  </a:rPr>
                                                  <m:t>h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3D7727-E576-9AB0-0B81-4D059BEBBF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9" t="-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F1EECB-C69D-E8ED-81BE-E5A288059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995DC6-016A-69DE-9184-DB7012A4F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994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916D21-A513-3DC6-8A8A-B53EF002C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>
                <a:latin typeface="+mn-lt"/>
                <a:ea typeface="Cambria Math" panose="02040503050406030204" pitchFamily="18" charset="0"/>
                <a:cs typeface="Cambria Math" panose="02040503050406030204" pitchFamily="18" charset="0"/>
              </a:rPr>
              <a:t>Direct prevalence estimation</a:t>
            </a:r>
            <a:endParaRPr lang="en-US" sz="32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3DA46C-2B62-3B70-DC0E-4EFB7672CC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dirty="0">
                    <a:latin typeface="+mn-lt"/>
                  </a:rPr>
                  <a:t>The Wald confidence interval would be</a:t>
                </a:r>
              </a:p>
              <a:p>
                <a:pPr marL="0" indent="0">
                  <a:buNone/>
                </a:pPr>
                <a:endParaRPr lang="en-US" sz="2400" i="1" dirty="0">
                  <a:latin typeface="+mn-lt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/2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𝑆𝐸</m:t>
                          </m:r>
                        </m:e>
                      </m:acc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sz="2400" dirty="0">
                  <a:latin typeface="+mn-lt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+mn-lt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𝛼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s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ignifies</m:t>
                    </m:r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𝛼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quantile of a standard normal distribution.</a:t>
                </a:r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3DA46C-2B62-3B70-DC0E-4EFB7672CC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18" t="-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55AD6-A92E-58B5-EC4A-25B47555F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31119-5CF8-485C-E713-C24A628D3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244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420EF-D54F-A24D-73C8-1BBEA5D9B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12882"/>
            <a:ext cx="10515600" cy="123701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Logistic model</a:t>
            </a:r>
            <a:br>
              <a:rPr lang="en-US" sz="2400" dirty="0">
                <a:latin typeface="+mn-lt"/>
              </a:rPr>
            </a:br>
            <a:endParaRPr lang="en-US" sz="24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30F9B7-65DA-A90D-5917-E70542C881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738444"/>
                <a:ext cx="10515600" cy="4553025"/>
              </a:xfrm>
            </p:spPr>
            <p:txBody>
              <a:bodyPr/>
              <a:lstStyle/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The most popular model for the binary response is the logistic regression model. </a:t>
                </a:r>
              </a:p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The logit of the disease probability is assumed to be a linear function of the covariate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1, 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𝑘𝑞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logit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𝜇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𝜇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  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𝑞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𝑞𝑘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𝜷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400" dirty="0">
                  <a:latin typeface="+mn-lt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𝜇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is defined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𝜷</m:t>
                    </m:r>
                  </m:oMath>
                </a14:m>
                <a:r>
                  <a:rPr lang="en-US" sz="2400" b="1" dirty="0">
                    <a:latin typeface="+mn-lt"/>
                    <a:ea typeface="PMingLiU" panose="02020500000000000000" pitchFamily="18" charset="-120"/>
                  </a:rPr>
                  <a:t> </a:t>
                </a:r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𝑞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-variate vector of parameters where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is the log odds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for every 1- unit increase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𝑗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=1,…,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𝜷</m:t>
                    </m:r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 is  estimated by maximizing the log-likelihood function,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𝓁</m:t>
                    </m:r>
                    <m:d>
                      <m:d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𝜷</m:t>
                        </m:r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 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sz="2400" i="1">
                                    <a:solidFill>
                                      <a:srgbClr val="44546A"/>
                                    </a:solidFill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rgbClr val="44546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1+</m:t>
                                    </m:r>
                                    <m:box>
                                      <m:box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func>
                                          <m:funcPr>
                                            <m:ctrlPr>
                                              <a:rPr 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4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exp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Sup>
                                                  <m:sSubSupPr>
                                                    <m:ctrlPr>
                                                      <a:rPr lang="en-US" sz="2400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en-US" sz="2400" b="1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Cambria Math" panose="02040503050406030204" pitchFamily="18" charset="0"/>
                                                      </a:rPr>
                                                      <m:t>𝒙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400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Cambria Math" panose="02040503050406030204" pitchFamily="18" charset="0"/>
                                                      </a:rPr>
                                                      <m:t>𝑘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en-US" sz="2400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Cambria Math" panose="02040503050406030204" pitchFamily="18" charset="0"/>
                                                      </a:rPr>
                                                      <m:t>𝑇</m:t>
                                                    </m:r>
                                                  </m:sup>
                                                </m:sSubSup>
                                                <m:r>
                                                  <a:rPr lang="en-US" sz="2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Cambria Math" panose="02040503050406030204" pitchFamily="18" charset="0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</m:e>
                                    </m:box>
                                  </m:e>
                                </m:d>
                              </m:e>
                            </m:func>
                            <m:r>
                              <a:rPr lang="en-US" sz="2400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Calibri" panose="020F0502020204030204" pitchFamily="34" charset="0"/>
                              </a:rPr>
                              <m:t> 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</a:t>
                </a:r>
              </a:p>
              <a:p>
                <a:pPr marL="0" indent="0" algn="ctr">
                  <a:buNone/>
                </a:pPr>
                <a:endParaRPr lang="en-US" sz="2400" dirty="0">
                  <a:latin typeface="+mn-lt"/>
                  <a:ea typeface="PMingLiU" panose="02020500000000000000" pitchFamily="18" charset="-120"/>
                </a:endParaRPr>
              </a:p>
              <a:p>
                <a:pPr marL="0" indent="0">
                  <a:buNone/>
                </a:pPr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30F9B7-65DA-A90D-5917-E70542C881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738444"/>
                <a:ext cx="10515600" cy="4553025"/>
              </a:xfrm>
              <a:blipFill>
                <a:blip r:embed="rId2"/>
                <a:stretch>
                  <a:fillRect l="-1739" t="-1874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3BCBE1-0F1B-51C0-1117-D9268709D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EEDCD7-5E67-498C-BE65-9E3E1C556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941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0995D-5D03-6C3F-2CB8-471BB3828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>
                <a:latin typeface="+mn-lt"/>
              </a:rPr>
              <a:t>Logistic regression</a:t>
            </a:r>
            <a:endParaRPr lang="en-US" sz="32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1AE80A-8C7A-60C4-F89D-CD5C3245D4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>
                    <a:latin typeface="+mn-lt"/>
                  </a:rPr>
                  <a:t>The prevalence estimation for MLE(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  <m: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𝑙𝑜𝑔𝑖𝑡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2400" dirty="0">
                    <a:latin typeface="+mn-lt"/>
                  </a:rPr>
                  <a:t>) will be </a:t>
                </a:r>
              </a:p>
              <a:p>
                <a:pPr marL="0" indent="0">
                  <a:buNone/>
                </a:pPr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𝑙𝑜𝑔𝑖𝑡</m:t>
                              </m:r>
                            </m:e>
                          </m:d>
                        </m:sup>
                      </m:sSubSup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  <m:sup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𝑙𝑜𝑔𝑖𝑡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+mn-lt"/>
                  </a:rPr>
                  <a:t>Where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𝜷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𝑈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\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 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4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en-US" sz="2400" i="1"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1+</m:t>
                            </m:r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4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</m:e>
                    </m:nary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 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en-US" sz="2400" dirty="0">
                  <a:latin typeface="+mn-lt"/>
                </a:endParaRPr>
              </a:p>
              <a:p>
                <a:pPr algn="just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The standard error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𝑙𝑜𝑔𝑖𝑡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can be obtained by the delta’s method, </a:t>
                </a:r>
              </a:p>
              <a:p>
                <a:pPr marL="0" indent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𝑆𝐸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𝑙𝑜𝑔𝑖𝑡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𝜷</m:t>
                                </m:r>
                              </m:e>
                            </m:acc>
                          </m:e>
                          <m:sup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𝑙𝑜𝑔𝑖𝑡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sub>
                      <m: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𝑙𝑜𝑔𝑖𝑡</m:t>
                            </m:r>
                          </m:e>
                        </m:d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𝜷</m:t>
                                        </m:r>
                                      </m:e>
                                    </m:acc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𝑙𝑜𝑔𝑖𝑡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400" dirty="0">
                    <a:latin typeface="+mn-lt"/>
                    <a:ea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endParaRPr lang="en-US" sz="2400" dirty="0">
                  <a:latin typeface="+mn-lt"/>
                  <a:ea typeface="PMingLiU" panose="02020500000000000000" pitchFamily="18" charset="-120"/>
                </a:endParaRPr>
              </a:p>
              <a:p>
                <a:pPr marL="0" indent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1AE80A-8C7A-60C4-F89D-CD5C3245D4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18" t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CEDE10-5263-E34C-F25C-2E18F392D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E6009-A264-FA57-FB54-1CFF60CEF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267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ADBE7-74F3-BD21-97FC-1F83C72BA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Logistic General Regression(LGREG)estimators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54E91F-FFCF-7A51-7767-1C17DB2422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81652"/>
              </a:xfrm>
            </p:spPr>
            <p:txBody>
              <a:bodyPr>
                <a:normAutofit/>
              </a:bodyPr>
              <a:lstStyle/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Results in a common set of weights for all variables in a dataset.</a:t>
                </a:r>
              </a:p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Estimations from survey can match known population controls. </a:t>
                </a:r>
              </a:p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Sampling variance of an estimator is reduced by borrowing strength from a linear assisting model .</a:t>
                </a:r>
              </a:p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Logistic regression used in classical statistics to assure predicted probability of an event is between 0 and 1.</a:t>
                </a:r>
              </a:p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Logistic regression likelihood function becomes pseudo log-likelihood function as follows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𝓁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𝐺𝑅𝐸𝐺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b="1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r>
                                    <a:rPr lang="en-US" sz="2400" b="1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d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1+</m:t>
                                      </m:r>
                                      <m:func>
                                        <m:funcPr>
                                          <m:ctrlPr>
                                            <a:rPr lang="en-US" sz="24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exp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sz="24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en-US" sz="24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sz="2400" b="1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sz="24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bSup>
                                              <m:r>
                                                <a:rPr lang="en-US" sz="2400" b="1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mbria Math" panose="02040503050406030204" pitchFamily="18" charset="0"/>
                                                </a:rPr>
                                                <m:t>𝜷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  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54E91F-FFCF-7A51-7767-1C17DB2422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81652"/>
              </a:xfrm>
              <a:blipFill>
                <a:blip r:embed="rId2"/>
                <a:stretch>
                  <a:fillRect l="-928" t="-1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E87E92-6795-9E93-9BF5-54DCBE124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7EBF22-8E40-641B-84CF-D6B4F902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945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CE397-E006-4746-F388-755F00900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>
                <a:latin typeface="+mn-lt"/>
              </a:rPr>
              <a:t>Logistic General Regression(LGREG)estimators</a:t>
            </a:r>
            <a:endParaRPr lang="en-US" sz="32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747EEE-F04F-2115-9B36-EB0EBDF5B4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>
                    <a:latin typeface="+mn-lt"/>
                  </a:rPr>
                  <a:t>The pseudo maximum likelihood estimator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Calibri" panose="020F0502020204030204" pitchFamily="34" charset="0"/>
                              </a:rPr>
                              <m:t>𝜷</m:t>
                            </m:r>
                          </m:e>
                        </m:acc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𝐺𝑅𝐸𝐺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400" dirty="0">
                    <a:latin typeface="+mn-lt"/>
                  </a:rPr>
                  <a:t>,solves the score function;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4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sz="2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𝜷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  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1+</m:t>
                                  </m:r>
                                  <m:func>
                                    <m:func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4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sz="2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𝜷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Meddon" panose="02000000000000000000" pitchFamily="2" charset="0"/>
                                  <a:cs typeface="Meddon" panose="02000000000000000000" pitchFamily="2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𝜷</m:t>
                              </m:r>
                            </m:e>
                          </m:d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400" dirty="0">
                  <a:latin typeface="+mn-lt"/>
                  <a:ea typeface="PMingLiU" panose="02020500000000000000" pitchFamily="18" charset="-12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effectLst/>
                    <a:latin typeface="+mn-lt"/>
                    <a:ea typeface="PMingLiU" panose="02020500000000000000" pitchFamily="18" charset="-120"/>
                    <a:cs typeface="Times New Roman" panose="02020603050405020304" pitchFamily="18" charset="0"/>
                  </a:rPr>
                  <a:t>   for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𝑗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=0,..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𝑞</m:t>
                    </m:r>
                  </m:oMath>
                </a14:m>
                <a:endParaRPr lang="en-US" sz="2400" dirty="0">
                  <a:latin typeface="+mn-lt"/>
                  <a:ea typeface="PMingLiU" panose="02020500000000000000" pitchFamily="18" charset="-120"/>
                </a:endParaRPr>
              </a:p>
              <a:p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The prevalence can be estimated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𝐺𝑅𝐸𝐺</m:t>
                            </m:r>
                          </m:e>
                        </m:d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  <a:cs typeface="Calibri" panose="020F0502020204030204" pitchFamily="34" charset="0"/>
                                  </a:rPr>
                                  <m:t>𝜷</m:t>
                                </m:r>
                              </m:e>
                            </m:acc>
                          </m:e>
                          <m:sup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𝐺𝑅𝐸𝐺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where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d>
                  </m:oMath>
                </a14:m>
                <a:r>
                  <a:rPr lang="en-US" sz="2400" dirty="0">
                    <a:latin typeface="+mn-lt"/>
                  </a:rPr>
                  <a:t> is defined on slide 17.</a:t>
                </a:r>
              </a:p>
              <a:p>
                <a:r>
                  <a:rPr lang="en-US" sz="2400" dirty="0">
                    <a:latin typeface="+mn-lt"/>
                    <a:ea typeface="Cambria Math" panose="02040503050406030204" pitchFamily="18" charset="0"/>
                    <a:cs typeface="Calibri" panose="020F0502020204030204" pitchFamily="34" charset="0"/>
                  </a:rPr>
                  <a:t>The</a:t>
                </a:r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standard error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𝐺𝑅𝐸𝐺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can be obtained by the delta’s method as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+mn-lt"/>
                    <a:ea typeface="Cambria Math" panose="02040503050406030204" pitchFamily="18" charset="0"/>
                    <a:cs typeface="Cambria Math" panose="02040503050406030204" pitchFamily="18" charset="0"/>
                  </a:rPr>
                  <a:t>             </a:t>
                </a:r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747EEE-F04F-2115-9B36-EB0EBDF5B4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9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B738C-D6BC-D927-5E76-F24B360AF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73D34-018D-A1F7-31C1-6A0729D9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029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237A8F-F619-21C3-BF80-8732C414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Logistic General Regression(LGREG)estimators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ABAD96-E52D-AE1F-64BD-B51950FB90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𝑆𝐸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𝐺𝑅𝐸𝐺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  <m:sup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𝐺𝑅𝐸𝐺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sub>
                        <m: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𝐺𝑅𝐸𝐺</m:t>
                              </m:r>
                            </m:e>
                          </m:d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𝜷</m:t>
                                          </m:r>
                                        </m:e>
                                      </m:acc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𝐺𝑅𝐸𝐺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400" dirty="0">
                  <a:latin typeface="+mn-lt"/>
                  <a:ea typeface="PMingLiU" panose="02020500000000000000" pitchFamily="18" charset="-120"/>
                </a:endParaRPr>
              </a:p>
              <a:p>
                <a:pPr algn="just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400" dirty="0">
                    <a:latin typeface="+mn-lt"/>
                    <a:ea typeface="Cambria Math" panose="02040503050406030204" pitchFamily="18" charset="0"/>
                    <a:cs typeface="Calibri" panose="020F0502020204030204" pitchFamily="34" charset="0"/>
                  </a:rPr>
                  <a:t>The </a:t>
                </a:r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100%</m:t>
                    </m:r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Wald confidence interval for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𝐺𝑅𝐸𝐺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is</a:t>
                </a:r>
              </a:p>
              <a:p>
                <a:pPr marL="0" indent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𝐺𝑅𝐸𝐺</m:t>
                              </m:r>
                            </m:e>
                          </m:d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/2 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𝑆𝐸</m:t>
                          </m:r>
                        </m:e>
                      </m:acc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𝐺𝑅𝐸𝐺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latin typeface="+mn-lt"/>
                  <a:ea typeface="PMingLiU" panose="02020500000000000000" pitchFamily="18" charset="-120"/>
                </a:endParaRPr>
              </a:p>
              <a:p>
                <a:endParaRPr lang="en-US" sz="2400" dirty="0">
                  <a:latin typeface="+mn-lt"/>
                  <a:ea typeface="PMingLiU" panose="02020500000000000000" pitchFamily="18" charset="-120"/>
                </a:endParaRPr>
              </a:p>
              <a:p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The estimate of the standard error,</a:t>
                </a:r>
                <a:r>
                  <a:rPr lang="en-US" sz="2400" dirty="0">
                    <a:latin typeface="+mn-lt"/>
                    <a:ea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𝑆𝐸</m:t>
                        </m:r>
                      </m:e>
                    </m:acc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𝐺𝑅𝐸𝐺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 is calculated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𝑆𝐸</m:t>
                          </m:r>
                        </m:e>
                      </m:acc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𝐺𝑅𝐸𝐺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𝜷</m:t>
                                      </m:r>
                                    </m:e>
                                  </m:acc>
                                </m:e>
                                <m:sup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𝐺𝑅𝐸𝐺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</m:sub>
                            <m:sup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𝐺𝑅𝐸𝐺</m:t>
                                  </m:r>
                                </m:e>
                              </m:d>
                            </m:sup>
                          </m:sSub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4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mbria Math" panose="02040503050406030204" pitchFamily="18" charset="0"/>
                                                </a:rPr>
                                                <m:t>𝜷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mbria Math" panose="02040503050406030204" pitchFamily="18" charset="0"/>
                                                </a:rPr>
                                                <m:t>𝐺𝑅𝐸𝐺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ABAD96-E52D-AE1F-64BD-B51950FB90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9" b="-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CFF54-6B98-70F3-40FD-E023C3EA3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ED5A6-1605-63ED-B1C0-C7E080B50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199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797B6-9A05-E4BF-BADA-09491A008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1298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Neural network method</a:t>
            </a:r>
            <a:br>
              <a:rPr lang="en-US" sz="2400" dirty="0">
                <a:solidFill>
                  <a:srgbClr val="2F5496"/>
                </a:solidFill>
                <a:latin typeface="+mn-lt"/>
                <a:ea typeface="Calibri" panose="020F0502020204030204" pitchFamily="34" charset="0"/>
                <a:cs typeface="Calibri Light" panose="020F0302020204030204" pitchFamily="34" charset="0"/>
              </a:rPr>
            </a:br>
            <a:endParaRPr lang="en-US" sz="24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F8E72-086D-408B-E6BE-4A2386A20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+mn-lt"/>
                <a:ea typeface="PMingLiU" panose="02020500000000000000" pitchFamily="18" charset="-120"/>
              </a:rPr>
              <a:t>Artificial neural networks (ANN) are machine learning techniques that simulate learning mechanisms in living beings by computational units called neurons.</a:t>
            </a:r>
          </a:p>
          <a:p>
            <a:r>
              <a:rPr lang="en-US" sz="2400" dirty="0">
                <a:latin typeface="+mn-lt"/>
                <a:ea typeface="PMingLiU" panose="02020500000000000000" pitchFamily="18" charset="-120"/>
              </a:rPr>
              <a:t>Properties:</a:t>
            </a:r>
          </a:p>
          <a:p>
            <a:pPr marL="0" indent="0">
              <a:buNone/>
            </a:pPr>
            <a:r>
              <a:rPr lang="en-US" sz="2400" dirty="0">
                <a:latin typeface="+mn-lt"/>
                <a:ea typeface="PMingLiU" panose="02020500000000000000" pitchFamily="18" charset="-120"/>
              </a:rPr>
              <a:t>   It has 2 –stage regression or classification model.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333333"/>
                </a:solidFill>
                <a:latin typeface="+mn-lt"/>
                <a:ea typeface="PMingLiU" panose="02020500000000000000" pitchFamily="18" charset="-120"/>
              </a:rPr>
              <a:t>   It can handle many quantitative responses seamlessly.</a:t>
            </a:r>
          </a:p>
          <a:p>
            <a:r>
              <a:rPr lang="en-US" sz="2400" dirty="0">
                <a:solidFill>
                  <a:srgbClr val="333333"/>
                </a:solidFill>
                <a:latin typeface="+mn-lt"/>
                <a:ea typeface="PMingLiU" panose="02020500000000000000" pitchFamily="18" charset="-120"/>
              </a:rPr>
              <a:t>In this project, the network has one output unit for binary classification which models the success probability.</a:t>
            </a:r>
            <a:endParaRPr lang="en-US" sz="2400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7BFD3D-42DE-378E-D521-4FB9B543D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5EC9C-7196-6E6E-41C1-1215CF2DA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043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44">
            <a:extLst>
              <a:ext uri="{FF2B5EF4-FFF2-40B4-BE49-F238E27FC236}">
                <a16:creationId xmlns:a16="http://schemas.microsoft.com/office/drawing/2014/main" id="{957963B7-88ED-7766-71CD-4E1CDEA83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64764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Neural network diagram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A0F75D9-CEF6-4DD2-0FA9-C4AD210168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8283" y="1950720"/>
            <a:ext cx="10231379" cy="3945234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+mn-lt"/>
              </a:rPr>
              <a:t>Artificial Neural Network neuron                          Human neuron</a:t>
            </a:r>
          </a:p>
        </p:txBody>
      </p:sp>
      <p:pic>
        <p:nvPicPr>
          <p:cNvPr id="49" name="Graphic 21">
            <a:extLst>
              <a:ext uri="{FF2B5EF4-FFF2-40B4-BE49-F238E27FC236}">
                <a16:creationId xmlns:a16="http://schemas.microsoft.com/office/drawing/2014/main" id="{8FE5E94C-0AF6-E02F-245C-E26727333D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81800" y="2833688"/>
            <a:ext cx="3810000" cy="2047875"/>
          </a:xfrm>
          <a:prstGeom prst="rect">
            <a:avLst/>
          </a:prstGeom>
        </p:spPr>
      </p:pic>
      <p:sp>
        <p:nvSpPr>
          <p:cNvPr id="81" name="Footer Placeholder 80">
            <a:extLst>
              <a:ext uri="{FF2B5EF4-FFF2-40B4-BE49-F238E27FC236}">
                <a16:creationId xmlns:a16="http://schemas.microsoft.com/office/drawing/2014/main" id="{D29C1179-94FF-E44F-3B69-CEBCE10EA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D7F5D3B4-2D4D-2C7A-C5A4-1072148C2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21</a:t>
            </a:fld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70185B0-2542-6747-85A8-21B352C18B5B}"/>
              </a:ext>
            </a:extLst>
          </p:cNvPr>
          <p:cNvGrpSpPr/>
          <p:nvPr/>
        </p:nvGrpSpPr>
        <p:grpSpPr>
          <a:xfrm>
            <a:off x="623456" y="2964085"/>
            <a:ext cx="4793672" cy="1476375"/>
            <a:chOff x="0" y="0"/>
            <a:chExt cx="4493895" cy="1784984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A6C84425-B1EA-E090-D4A5-00C44392AB48}"/>
                </a:ext>
              </a:extLst>
            </p:cNvPr>
            <p:cNvGrpSpPr/>
            <p:nvPr/>
          </p:nvGrpSpPr>
          <p:grpSpPr>
            <a:xfrm>
              <a:off x="0" y="0"/>
              <a:ext cx="4493895" cy="1784984"/>
              <a:chOff x="0" y="0"/>
              <a:chExt cx="4494422" cy="1785236"/>
            </a:xfrm>
          </p:grpSpPr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7777D38F-56F9-95CD-E18D-440D336A3786}"/>
                  </a:ext>
                </a:extLst>
              </p:cNvPr>
              <p:cNvGrpSpPr/>
              <p:nvPr/>
            </p:nvGrpSpPr>
            <p:grpSpPr>
              <a:xfrm>
                <a:off x="155277" y="17253"/>
                <a:ext cx="1483804" cy="534868"/>
                <a:chOff x="1" y="0"/>
                <a:chExt cx="1483804" cy="534868"/>
              </a:xfrm>
            </p:grpSpPr>
            <p:sp>
              <p:nvSpPr>
                <p:cNvPr id="79" name="Right Brace 78">
                  <a:extLst>
                    <a:ext uri="{FF2B5EF4-FFF2-40B4-BE49-F238E27FC236}">
                      <a16:creationId xmlns:a16="http://schemas.microsoft.com/office/drawing/2014/main" id="{DA1D08AE-97E7-0D7B-489D-A1D7C012D390}"/>
                    </a:ext>
                  </a:extLst>
                </p:cNvPr>
                <p:cNvSpPr/>
                <p:nvPr/>
              </p:nvSpPr>
              <p:spPr>
                <a:xfrm rot="16200000">
                  <a:off x="616820" y="-332117"/>
                  <a:ext cx="250166" cy="1483804"/>
                </a:xfrm>
                <a:prstGeom prst="rightBrac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80" name="Text Box 26">
                  <a:extLst>
                    <a:ext uri="{FF2B5EF4-FFF2-40B4-BE49-F238E27FC236}">
                      <a16:creationId xmlns:a16="http://schemas.microsoft.com/office/drawing/2014/main" id="{F4C995DB-F1B0-28A6-30EF-528099256154}"/>
                    </a:ext>
                  </a:extLst>
                </p:cNvPr>
                <p:cNvSpPr txBox="1"/>
                <p:nvPr/>
              </p:nvSpPr>
              <p:spPr>
                <a:xfrm>
                  <a:off x="396845" y="0"/>
                  <a:ext cx="741872" cy="31929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sz="1100">
                      <a:latin typeface="Calibri" panose="020F0502020204030204" pitchFamily="34" charset="0"/>
                      <a:ea typeface="PMingLiU" panose="02020500000000000000" pitchFamily="18" charset="-120"/>
                    </a:rPr>
                    <a:t>Dendrites</a:t>
                  </a:r>
                </a:p>
              </p:txBody>
            </p:sp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5A314763-F1B2-1EB1-EA5C-B2B8715D0948}"/>
                  </a:ext>
                </a:extLst>
              </p:cNvPr>
              <p:cNvGrpSpPr/>
              <p:nvPr/>
            </p:nvGrpSpPr>
            <p:grpSpPr>
              <a:xfrm>
                <a:off x="3010619" y="0"/>
                <a:ext cx="1483803" cy="569373"/>
                <a:chOff x="0" y="0"/>
                <a:chExt cx="1483803" cy="569373"/>
              </a:xfrm>
            </p:grpSpPr>
            <p:sp>
              <p:nvSpPr>
                <p:cNvPr id="77" name="Right Brace 76">
                  <a:extLst>
                    <a:ext uri="{FF2B5EF4-FFF2-40B4-BE49-F238E27FC236}">
                      <a16:creationId xmlns:a16="http://schemas.microsoft.com/office/drawing/2014/main" id="{8A5D3384-CFAD-345B-AB6D-035F567BE194}"/>
                    </a:ext>
                  </a:extLst>
                </p:cNvPr>
                <p:cNvSpPr/>
                <p:nvPr/>
              </p:nvSpPr>
              <p:spPr>
                <a:xfrm rot="16200000">
                  <a:off x="616819" y="-297612"/>
                  <a:ext cx="250166" cy="1483803"/>
                </a:xfrm>
                <a:prstGeom prst="rightBrac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78" name="Text Box 29">
                  <a:extLst>
                    <a:ext uri="{FF2B5EF4-FFF2-40B4-BE49-F238E27FC236}">
                      <a16:creationId xmlns:a16="http://schemas.microsoft.com/office/drawing/2014/main" id="{2794C609-0AB1-8756-D319-0260185A59E0}"/>
                    </a:ext>
                  </a:extLst>
                </p:cNvPr>
                <p:cNvSpPr txBox="1"/>
                <p:nvPr/>
              </p:nvSpPr>
              <p:spPr>
                <a:xfrm>
                  <a:off x="483110" y="0"/>
                  <a:ext cx="586596" cy="31929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sz="1100">
                      <a:latin typeface="Calibri" panose="020F0502020204030204" pitchFamily="34" charset="0"/>
                      <a:ea typeface="PMingLiU" panose="02020500000000000000" pitchFamily="18" charset="-120"/>
                    </a:rPr>
                    <a:t>Axon</a:t>
                  </a:r>
                </a:p>
              </p:txBody>
            </p: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732CB0F3-FB98-4877-3A39-9A0F017B3E6E}"/>
                  </a:ext>
                </a:extLst>
              </p:cNvPr>
              <p:cNvGrpSpPr/>
              <p:nvPr/>
            </p:nvGrpSpPr>
            <p:grpSpPr>
              <a:xfrm>
                <a:off x="1716657" y="17253"/>
                <a:ext cx="1207298" cy="577769"/>
                <a:chOff x="0" y="0"/>
                <a:chExt cx="1207298" cy="577769"/>
              </a:xfrm>
            </p:grpSpPr>
            <p:sp>
              <p:nvSpPr>
                <p:cNvPr id="75" name="Right Brace 74">
                  <a:extLst>
                    <a:ext uri="{FF2B5EF4-FFF2-40B4-BE49-F238E27FC236}">
                      <a16:creationId xmlns:a16="http://schemas.microsoft.com/office/drawing/2014/main" id="{766C638E-EF94-F4C2-0655-23ABF2E4C7CE}"/>
                    </a:ext>
                  </a:extLst>
                </p:cNvPr>
                <p:cNvSpPr/>
                <p:nvPr/>
              </p:nvSpPr>
              <p:spPr>
                <a:xfrm rot="16200000">
                  <a:off x="478566" y="-150963"/>
                  <a:ext cx="250166" cy="1207298"/>
                </a:xfrm>
                <a:prstGeom prst="rightBrac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76" name="Text Box 32">
                  <a:extLst>
                    <a:ext uri="{FF2B5EF4-FFF2-40B4-BE49-F238E27FC236}">
                      <a16:creationId xmlns:a16="http://schemas.microsoft.com/office/drawing/2014/main" id="{E6479C95-1D3E-5451-4724-90B4421A982C}"/>
                    </a:ext>
                  </a:extLst>
                </p:cNvPr>
                <p:cNvSpPr txBox="1"/>
                <p:nvPr/>
              </p:nvSpPr>
              <p:spPr>
                <a:xfrm>
                  <a:off x="232713" y="0"/>
                  <a:ext cx="784501" cy="31929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sz="1100" dirty="0">
                      <a:latin typeface="Calibri" panose="020F0502020204030204" pitchFamily="34" charset="0"/>
                      <a:ea typeface="PMingLiU" panose="02020500000000000000" pitchFamily="18" charset="-120"/>
                    </a:rPr>
                    <a:t>Cell Body</a:t>
                  </a:r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6A01AEEE-9495-30E3-8F7A-BABEB86037FE}"/>
                  </a:ext>
                </a:extLst>
              </p:cNvPr>
              <p:cNvGrpSpPr/>
              <p:nvPr/>
            </p:nvGrpSpPr>
            <p:grpSpPr>
              <a:xfrm>
                <a:off x="0" y="569343"/>
                <a:ext cx="1526876" cy="1199071"/>
                <a:chOff x="0" y="0"/>
                <a:chExt cx="1526876" cy="119907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7" name="Text Box 34">
                      <a:extLst>
                        <a:ext uri="{FF2B5EF4-FFF2-40B4-BE49-F238E27FC236}">
                          <a16:creationId xmlns:a16="http://schemas.microsoft.com/office/drawing/2014/main" id="{B70CCE32-4487-D550-30AA-EE500904790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0" y="0"/>
                      <a:ext cx="284672" cy="362309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</m:ctrlPr>
                              </m:sSubP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  <m:t>1</m:t>
                                </m:r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  <m:t>𝑘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100"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p:txBody>
                </p:sp>
              </mc:Choice>
              <mc:Fallback xmlns="">
                <p:sp>
                  <p:nvSpPr>
                    <p:cNvPr id="67" name="Text Box 34">
                      <a:extLst>
                        <a:ext uri="{FF2B5EF4-FFF2-40B4-BE49-F238E27FC236}">
                          <a16:creationId xmlns:a16="http://schemas.microsoft.com/office/drawing/2014/main" id="{B70CCE32-4487-D550-30AA-EE500904790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0" y="0"/>
                      <a:ext cx="284672" cy="36230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r="-4000"/>
                      </a:stretch>
                    </a:blipFill>
                    <a:ln w="63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8" name="Text Box 35">
                      <a:extLst>
                        <a:ext uri="{FF2B5EF4-FFF2-40B4-BE49-F238E27FC236}">
                          <a16:creationId xmlns:a16="http://schemas.microsoft.com/office/drawing/2014/main" id="{B6BD162D-0114-137D-4325-47FD058798C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880" y="836762"/>
                      <a:ext cx="284672" cy="362309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</m:ctrlPr>
                              </m:sSubP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  <m:t>𝑞𝑘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100"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p:txBody>
                </p:sp>
              </mc:Choice>
              <mc:Fallback xmlns="">
                <p:sp>
                  <p:nvSpPr>
                    <p:cNvPr id="68" name="Text Box 35">
                      <a:extLst>
                        <a:ext uri="{FF2B5EF4-FFF2-40B4-BE49-F238E27FC236}">
                          <a16:creationId xmlns:a16="http://schemas.microsoft.com/office/drawing/2014/main" id="{B6BD162D-0114-137D-4325-47FD058798C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880" y="836762"/>
                      <a:ext cx="284672" cy="36230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r="-8000"/>
                      </a:stretch>
                    </a:blipFill>
                    <a:ln w="63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B9DD4C49-CD34-5AA3-2E57-858CF37ADBD1}"/>
                    </a:ext>
                  </a:extLst>
                </p:cNvPr>
                <p:cNvGrpSpPr/>
                <p:nvPr/>
              </p:nvGrpSpPr>
              <p:grpSpPr>
                <a:xfrm>
                  <a:off x="284672" y="86265"/>
                  <a:ext cx="1242204" cy="483078"/>
                  <a:chOff x="0" y="17254"/>
                  <a:chExt cx="1242204" cy="483078"/>
                </a:xfrm>
              </p:grpSpPr>
              <p:cxnSp>
                <p:nvCxnSpPr>
                  <p:cNvPr id="73" name="Straight Arrow Connector 72">
                    <a:extLst>
                      <a:ext uri="{FF2B5EF4-FFF2-40B4-BE49-F238E27FC236}">
                        <a16:creationId xmlns:a16="http://schemas.microsoft.com/office/drawing/2014/main" id="{9A6C8746-C6DA-B7FC-6240-1F88AC03545B}"/>
                      </a:ext>
                    </a:extLst>
                  </p:cNvPr>
                  <p:cNvCxnSpPr/>
                  <p:nvPr/>
                </p:nvCxnSpPr>
                <p:spPr>
                  <a:xfrm>
                    <a:off x="0" y="51759"/>
                    <a:ext cx="1242204" cy="448573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4" name="Text Box 38">
                        <a:extLst>
                          <a:ext uri="{FF2B5EF4-FFF2-40B4-BE49-F238E27FC236}">
                            <a16:creationId xmlns:a16="http://schemas.microsoft.com/office/drawing/2014/main" id="{3E9F255F-6F69-D149-834F-24E8C54E331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62234" y="17254"/>
                        <a:ext cx="379638" cy="344914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>
                          <a:lnSpc>
                            <a:spcPct val="115000"/>
                          </a:lnSpc>
                          <a:spcAft>
                            <a:spcPts val="1000"/>
                          </a:spcAft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</a:rPr>
                                    <m:t>1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</a:rPr>
                                    <m:t>𝑚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100">
                          <a:latin typeface="Calibri" panose="020F0502020204030204" pitchFamily="34" charset="0"/>
                          <a:ea typeface="PMingLiU" panose="02020500000000000000" pitchFamily="18" charset="-12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74" name="Text Box 38">
                        <a:extLst>
                          <a:ext uri="{FF2B5EF4-FFF2-40B4-BE49-F238E27FC236}">
                            <a16:creationId xmlns:a16="http://schemas.microsoft.com/office/drawing/2014/main" id="{3E9F255F-6F69-D149-834F-24E8C54E331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62234" y="17254"/>
                        <a:ext cx="379638" cy="344914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  <a:ln w="635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42EA9101-ABB6-646D-7292-275EFE3237EA}"/>
                    </a:ext>
                  </a:extLst>
                </p:cNvPr>
                <p:cNvGrpSpPr/>
                <p:nvPr/>
              </p:nvGrpSpPr>
              <p:grpSpPr>
                <a:xfrm>
                  <a:off x="301925" y="543465"/>
                  <a:ext cx="1181471" cy="405441"/>
                  <a:chOff x="0" y="-25879"/>
                  <a:chExt cx="1181471" cy="405441"/>
                </a:xfrm>
              </p:grpSpPr>
              <p:cxnSp>
                <p:nvCxnSpPr>
                  <p:cNvPr id="71" name="Straight Arrow Connector 70">
                    <a:extLst>
                      <a:ext uri="{FF2B5EF4-FFF2-40B4-BE49-F238E27FC236}">
                        <a16:creationId xmlns:a16="http://schemas.microsoft.com/office/drawing/2014/main" id="{5B5E3BAC-DF8A-F1F2-1094-4B397670EDF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0" y="60384"/>
                    <a:ext cx="1181471" cy="319178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2" name="Text Box 41">
                        <a:extLst>
                          <a:ext uri="{FF2B5EF4-FFF2-40B4-BE49-F238E27FC236}">
                            <a16:creationId xmlns:a16="http://schemas.microsoft.com/office/drawing/2014/main" id="{45C44748-D8D6-2D7E-F4B4-2FC9D05E018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19104" y="-25879"/>
                        <a:ext cx="379635" cy="387977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>
                          <a:lnSpc>
                            <a:spcPct val="115000"/>
                          </a:lnSpc>
                          <a:spcAft>
                            <a:spcPts val="1000"/>
                          </a:spcAft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</a:rPr>
                                    <m:t>2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</a:rPr>
                                    <m:t>𝑚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100">
                          <a:latin typeface="Calibri" panose="020F0502020204030204" pitchFamily="34" charset="0"/>
                          <a:ea typeface="PMingLiU" panose="02020500000000000000" pitchFamily="18" charset="-12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72" name="Text Box 41">
                        <a:extLst>
                          <a:ext uri="{FF2B5EF4-FFF2-40B4-BE49-F238E27FC236}">
                            <a16:creationId xmlns:a16="http://schemas.microsoft.com/office/drawing/2014/main" id="{45C44748-D8D6-2D7E-F4B4-2FC9D05E018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19104" y="-25879"/>
                        <a:ext cx="379635" cy="387977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  <a:ln w="635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A3F137F0-1C41-D8DA-2127-C60DEB6719CC}"/>
                  </a:ext>
                </a:extLst>
              </p:cNvPr>
              <p:cNvGrpSpPr/>
              <p:nvPr/>
            </p:nvGrpSpPr>
            <p:grpSpPr>
              <a:xfrm>
                <a:off x="1673525" y="689919"/>
                <a:ext cx="1293961" cy="1095317"/>
                <a:chOff x="0" y="-194"/>
                <a:chExt cx="1293961" cy="1095317"/>
              </a:xfrm>
            </p:grpSpPr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C329EDE3-5CB0-C74F-3D7B-F6913443183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50459" cy="1095123"/>
                </a:xfrm>
                <a:prstGeom prst="ellipse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DBCE2ADF-66DD-BD95-3ED9-D114B92C1AD7}"/>
                    </a:ext>
                  </a:extLst>
                </p:cNvPr>
                <p:cNvGrpSpPr/>
                <p:nvPr/>
              </p:nvGrpSpPr>
              <p:grpSpPr>
                <a:xfrm>
                  <a:off x="327804" y="396815"/>
                  <a:ext cx="690113" cy="552091"/>
                  <a:chOff x="0" y="0"/>
                  <a:chExt cx="690113" cy="552091"/>
                </a:xfrm>
              </p:grpSpPr>
              <p:cxnSp>
                <p:nvCxnSpPr>
                  <p:cNvPr id="64" name="Straight Arrow Connector 63">
                    <a:extLst>
                      <a:ext uri="{FF2B5EF4-FFF2-40B4-BE49-F238E27FC236}">
                        <a16:creationId xmlns:a16="http://schemas.microsoft.com/office/drawing/2014/main" id="{E4496628-BFF9-FF4F-A3FC-9240B24A597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0" y="0"/>
                    <a:ext cx="0" cy="54292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Arrow Connector 64">
                    <a:extLst>
                      <a:ext uri="{FF2B5EF4-FFF2-40B4-BE49-F238E27FC236}">
                        <a16:creationId xmlns:a16="http://schemas.microsoft.com/office/drawing/2014/main" id="{91B34949-9D9A-3001-D12E-FFB002F6BD3C}"/>
                      </a:ext>
                    </a:extLst>
                  </p:cNvPr>
                  <p:cNvCxnSpPr/>
                  <p:nvPr/>
                </p:nvCxnSpPr>
                <p:spPr>
                  <a:xfrm>
                    <a:off x="0" y="552091"/>
                    <a:ext cx="690113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" name="Freeform: Shape 65">
                    <a:extLst>
                      <a:ext uri="{FF2B5EF4-FFF2-40B4-BE49-F238E27FC236}">
                        <a16:creationId xmlns:a16="http://schemas.microsoft.com/office/drawing/2014/main" id="{10EC1953-FF93-AE46-3FD1-77C61BC22F60}"/>
                      </a:ext>
                    </a:extLst>
                  </p:cNvPr>
                  <p:cNvSpPr/>
                  <p:nvPr/>
                </p:nvSpPr>
                <p:spPr>
                  <a:xfrm>
                    <a:off x="0" y="69011"/>
                    <a:ext cx="543464" cy="465827"/>
                  </a:xfrm>
                  <a:custGeom>
                    <a:avLst/>
                    <a:gdLst>
                      <a:gd name="connsiteX0" fmla="*/ 0 w 543464"/>
                      <a:gd name="connsiteY0" fmla="*/ 465827 h 465827"/>
                      <a:gd name="connsiteX1" fmla="*/ 224287 w 543464"/>
                      <a:gd name="connsiteY1" fmla="*/ 370936 h 465827"/>
                      <a:gd name="connsiteX2" fmla="*/ 276045 w 543464"/>
                      <a:gd name="connsiteY2" fmla="*/ 77638 h 465827"/>
                      <a:gd name="connsiteX3" fmla="*/ 543464 w 543464"/>
                      <a:gd name="connsiteY3" fmla="*/ 0 h 4658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43464" h="465827">
                        <a:moveTo>
                          <a:pt x="0" y="465827"/>
                        </a:moveTo>
                        <a:cubicBezTo>
                          <a:pt x="89140" y="450730"/>
                          <a:pt x="178280" y="435634"/>
                          <a:pt x="224287" y="370936"/>
                        </a:cubicBezTo>
                        <a:cubicBezTo>
                          <a:pt x="270294" y="306238"/>
                          <a:pt x="222849" y="139461"/>
                          <a:pt x="276045" y="77638"/>
                        </a:cubicBezTo>
                        <a:cubicBezTo>
                          <a:pt x="329241" y="15815"/>
                          <a:pt x="436352" y="7907"/>
                          <a:pt x="543464" y="0"/>
                        </a:cubicBezTo>
                      </a:path>
                    </a:pathLst>
                  </a:custGeom>
                  <a:noFill/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3" name="Text Box 48">
                      <a:extLst>
                        <a:ext uri="{FF2B5EF4-FFF2-40B4-BE49-F238E27FC236}">
                          <a16:creationId xmlns:a16="http://schemas.microsoft.com/office/drawing/2014/main" id="{902BCA8F-1B63-FDA3-0647-1CECF93DBE6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6962" y="-194"/>
                      <a:ext cx="1026999" cy="646981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latin typeface="Calibri" panose="020F0502020204030204" pitchFamily="34" charset="0"/>
                          <a:ea typeface="PMingLiU" panose="02020500000000000000" pitchFamily="18" charset="-120"/>
                        </a:rPr>
                        <a:t>Activation function </a:t>
                      </a:r>
                      <a14:m>
                        <m:oMath xmlns:m="http://schemas.openxmlformats.org/officeDocument/2006/math">
                          <m:r>
                            <a:rPr lang="en-US" sz="1100" i="1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𝜎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(⋅)</m:t>
                          </m:r>
                        </m:oMath>
                      </a14:m>
                      <a:endParaRPr lang="en-US" sz="1100"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p:txBody>
                </p:sp>
              </mc:Choice>
              <mc:Fallback xmlns="">
                <p:sp>
                  <p:nvSpPr>
                    <p:cNvPr id="63" name="Text Box 48">
                      <a:extLst>
                        <a:ext uri="{FF2B5EF4-FFF2-40B4-BE49-F238E27FC236}">
                          <a16:creationId xmlns:a16="http://schemas.microsoft.com/office/drawing/2014/main" id="{902BCA8F-1B63-FDA3-0647-1CECF93DBE6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6962" y="-194"/>
                      <a:ext cx="1026999" cy="646981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 w="63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03AF5BC5-D77F-1969-77A1-CBE0E95B2199}"/>
                  </a:ext>
                </a:extLst>
              </p:cNvPr>
              <p:cNvGrpSpPr/>
              <p:nvPr/>
            </p:nvGrpSpPr>
            <p:grpSpPr>
              <a:xfrm>
                <a:off x="3088257" y="862399"/>
                <a:ext cx="1199071" cy="362309"/>
                <a:chOff x="0" y="-242"/>
                <a:chExt cx="1199071" cy="362309"/>
              </a:xfrm>
            </p:grpSpPr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B838E895-DFB7-FC15-DBF9-233D6FD7CDC2}"/>
                    </a:ext>
                  </a:extLst>
                </p:cNvPr>
                <p:cNvCxnSpPr/>
                <p:nvPr/>
              </p:nvCxnSpPr>
              <p:spPr>
                <a:xfrm>
                  <a:off x="0" y="310551"/>
                  <a:ext cx="1199071" cy="1725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" name="Text Box 51">
                      <a:extLst>
                        <a:ext uri="{FF2B5EF4-FFF2-40B4-BE49-F238E27FC236}">
                          <a16:creationId xmlns:a16="http://schemas.microsoft.com/office/drawing/2014/main" id="{838750AD-F143-7CC3-6B2D-478087B0CF5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0495" y="-242"/>
                      <a:ext cx="673686" cy="362309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</m:ctrlPr>
                              </m:sSubP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sz="1100" i="1"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  <m:t>  </m:t>
                            </m:r>
                          </m:oMath>
                        </m:oMathPara>
                      </a14:m>
                      <a:endParaRPr lang="en-US" sz="1100"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p:txBody>
                </p:sp>
              </mc:Choice>
              <mc:Fallback xmlns="">
                <p:sp>
                  <p:nvSpPr>
                    <p:cNvPr id="60" name="Text Box 51">
                      <a:extLst>
                        <a:ext uri="{FF2B5EF4-FFF2-40B4-BE49-F238E27FC236}">
                          <a16:creationId xmlns:a16="http://schemas.microsoft.com/office/drawing/2014/main" id="{838750AD-F143-7CC3-6B2D-478087B0CF5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0495" y="-242"/>
                      <a:ext cx="673686" cy="362309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 w="63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 Box 7">
                  <a:extLst>
                    <a:ext uri="{FF2B5EF4-FFF2-40B4-BE49-F238E27FC236}">
                      <a16:creationId xmlns:a16="http://schemas.microsoft.com/office/drawing/2014/main" id="{AAB23C1A-A45B-CD3A-3B36-28DFECB78034}"/>
                    </a:ext>
                  </a:extLst>
                </p:cNvPr>
                <p:cNvSpPr txBox="1"/>
                <p:nvPr/>
              </p:nvSpPr>
              <p:spPr>
                <a:xfrm>
                  <a:off x="0" y="930302"/>
                  <a:ext cx="284639" cy="362258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  <m:t>⋮</m:t>
                        </m:r>
                      </m:oMath>
                    </m:oMathPara>
                  </a14:m>
                  <a:endParaRPr lang="en-US" sz="1100">
                    <a:latin typeface="Calibri" panose="020F0502020204030204" pitchFamily="34" charset="0"/>
                    <a:ea typeface="PMingLiU" panose="02020500000000000000" pitchFamily="18" charset="-120"/>
                  </a:endParaRPr>
                </a:p>
              </p:txBody>
            </p:sp>
          </mc:Choice>
          <mc:Fallback xmlns="">
            <p:sp>
              <p:nvSpPr>
                <p:cNvPr id="52" name="Text Box 7">
                  <a:extLst>
                    <a:ext uri="{FF2B5EF4-FFF2-40B4-BE49-F238E27FC236}">
                      <a16:creationId xmlns:a16="http://schemas.microsoft.com/office/drawing/2014/main" id="{AAB23C1A-A45B-CD3A-3B36-28DFECB780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930302"/>
                  <a:ext cx="284639" cy="36225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178227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3CAFC-A131-FBA2-4212-8A64AC18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4FB9BD-F00E-9145-7551-BCC1E6F5BD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Hidden units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333333"/>
                    </a:solidFill>
                    <a:latin typeface="+mn-lt"/>
                    <a:ea typeface="PMingLiU" panose="02020500000000000000" pitchFamily="18" charset="-120"/>
                  </a:rPr>
                  <a:t> </a:t>
                </a:r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(derived features) </a:t>
                </a:r>
              </a:p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Output function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333333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>
                            <a:solidFill>
                              <a:srgbClr val="333333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333333"/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333333"/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333333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2400" dirty="0">
                    <a:latin typeface="+mn-lt"/>
                    <a:ea typeface="Quattrocento Sans" panose="020B0502050000020003" pitchFamily="34" charset="0"/>
                    <a:cs typeface="Quattrocento Sans" panose="020B0502050000020003" pitchFamily="34" charset="0"/>
                  </a:rPr>
                  <a:t> </a:t>
                </a:r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allows final transformation of output vector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>
                            <a:solidFill>
                              <a:srgbClr val="333333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333333"/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333333"/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sz="2400" b="0" i="0" dirty="0">
                  <a:solidFill>
                    <a:srgbClr val="353740"/>
                  </a:solidFill>
                  <a:effectLst/>
                  <a:latin typeface="+mn-lt"/>
                </a:endParaRPr>
              </a:p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SoftMax function is same as logit function in logistic regression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1+ 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den>
                    </m:f>
                  </m:oMath>
                </a14:m>
                <a:r>
                  <a:rPr lang="en-US" sz="2400" i="1" dirty="0">
                    <a:latin typeface="+mn-lt"/>
                    <a:ea typeface="PMingLiU" panose="02020500000000000000" pitchFamily="18" charset="-120"/>
                  </a:rPr>
                  <a:t> </a:t>
                </a:r>
                <a:endParaRPr lang="en-US" sz="2400" dirty="0">
                  <a:solidFill>
                    <a:srgbClr val="333333"/>
                  </a:solidFill>
                  <a:highlight>
                    <a:srgbClr val="FFFFFF"/>
                  </a:highlight>
                  <a:latin typeface="+mn-lt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 </a:t>
                </a:r>
              </a:p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Bias unit captures intercepts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+mn-lt"/>
                    <a:ea typeface="Quattrocento Sans" panose="020B0502050000020003" pitchFamily="34" charset="0"/>
                    <a:cs typeface="Quattrocento Sans" panose="020B0502050000020003" pitchFamily="34" charset="0"/>
                  </a:rPr>
                  <a:t> 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Calibri" panose="020F0502020204030204" pitchFamily="34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+mn-lt"/>
                    <a:ea typeface="PMingLiU" panose="02020500000000000000" pitchFamily="18" charset="-120"/>
                  </a:rPr>
                  <a:t> </a:t>
                </a:r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in model.</a:t>
                </a:r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4FB9BD-F00E-9145-7551-BCC1E6F5BD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9" t="-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78B836-D034-5B39-5ACD-019774900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7D906D-43FC-51A5-242C-89BD2DE6A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2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5ED90-A14B-25D7-0005-2DD066D6B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Fitting a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0AC3A5-884B-7604-1473-C8CC8CD405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lnSpc>
                    <a:spcPct val="120000"/>
                  </a:lnSpc>
                </a:pPr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To obtain weight matrix, minimize squared error (error function) or deviance function 𝑅(𝜽)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Deviance function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𝜽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+mn-lt"/>
                    <a:ea typeface="PMingLiU" panose="02020500000000000000" pitchFamily="18" charset="-120"/>
                  </a:rPr>
                  <a:t>, 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rgbClr val="000000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sz="2400" i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func>
                        <m:func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0000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333333"/>
                                      </a:solidFill>
                                      <a:highlight>
                                        <a:srgbClr val="FFFFFF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2400" i="1">
                                      <a:solidFill>
                                        <a:srgbClr val="333333"/>
                                      </a:solidFill>
                                      <a:highlight>
                                        <a:srgbClr val="FFFFFF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solidFill>
                                            <a:srgbClr val="333333"/>
                                          </a:solidFill>
                                          <a:highlight>
                                            <a:srgbClr val="FF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333333"/>
                                          </a:solidFill>
                                          <a:highlight>
                                            <a:srgbClr val="FF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rgbClr val="333333"/>
                                      </a:solidFill>
                                      <a:highlight>
                                        <a:srgbClr val="FFFFFF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0000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333333"/>
                                      </a:solidFill>
                                      <a:highlight>
                                        <a:srgbClr val="FFFFFF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2400" i="1">
                                      <a:solidFill>
                                        <a:srgbClr val="333333"/>
                                      </a:solidFill>
                                      <a:highlight>
                                        <a:srgbClr val="FFFFFF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solidFill>
                                            <a:srgbClr val="333333"/>
                                          </a:solidFill>
                                          <a:highlight>
                                            <a:srgbClr val="FF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333333"/>
                                          </a:solidFill>
                                          <a:highlight>
                                            <a:srgbClr val="FF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rgbClr val="333333"/>
                                      </a:solidFill>
                                      <a:highlight>
                                        <a:srgbClr val="FFFFFF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>
                  <a:solidFill>
                    <a:srgbClr val="000000"/>
                  </a:solidFill>
                  <a:highlight>
                    <a:srgbClr val="FFFFFF"/>
                  </a:highlight>
                  <a:latin typeface="+mn-lt"/>
                  <a:ea typeface="PMingLiU" panose="02020500000000000000" pitchFamily="18" charset="-120"/>
                </a:endParaRPr>
              </a:p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SoftMax activation function makes ANN same as linear logistic regression. </a:t>
                </a:r>
              </a:p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Parameters estimated by maximum likelihood.</a:t>
                </a:r>
              </a:p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Gradient descent 𝑅(𝜽) minimized with chain rule of differentiation (backpropagation).</a:t>
                </a:r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0AC3A5-884B-7604-1473-C8CC8CD405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9" t="-152" r="-1879"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CE9315-E81E-3230-EA6D-F76981A62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664729-02DD-3B29-61CD-11943B524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007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64B636-6BF8-134F-0906-29C818748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Fitting a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2F953A-D5B8-73B1-FB5F-5F86540FE2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sz="24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+mn-lt"/>
                    <a:ea typeface="PMingLiU" panose="02020500000000000000" pitchFamily="18" charset="-120"/>
                  </a:rPr>
                  <a:t>This gives us the updated function;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rgbClr val="000000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PMingLiU" panose="02020500000000000000" pitchFamily="18" charset="-12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p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PMingLiU" panose="02020500000000000000" pitchFamily="18" charset="-120"/>
                                  <a:cs typeface="Calibri" panose="020F0502020204030204" pitchFamily="34" charset="0"/>
                                </a:rPr>
                                <m:t>𝑟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PMingLiU" panose="02020500000000000000" pitchFamily="18" charset="-120"/>
                                  <a:cs typeface="Calibri" panose="020F0502020204030204" pitchFamily="34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PMingLiU" panose="02020500000000000000" pitchFamily="18" charset="-120"/>
                          <a:cs typeface="Calibri" panose="020F0502020204030204" pitchFamily="34" charset="0"/>
                        </a:rPr>
                        <m:t>= 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rgbClr val="000000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PMingLiU" panose="02020500000000000000" pitchFamily="18" charset="-120"/>
                              <a:cs typeface="Calibri" panose="020F0502020204030204" pitchFamily="34" charset="0"/>
                            </a:rPr>
                            <m:t>𝒃</m:t>
                          </m:r>
                        </m:e>
                        <m:sup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PMingLiU" panose="02020500000000000000" pitchFamily="18" charset="-120"/>
                                  <a:cs typeface="Calibri" panose="020F0502020204030204" pitchFamily="34" charset="0"/>
                                </a:rPr>
                                <m:t>𝑟</m:t>
                              </m:r>
                            </m:e>
                          </m:d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PMingLiU" panose="02020500000000000000" pitchFamily="18" charset="-120"/>
                          <a:cs typeface="Calibri" panose="020F050202020403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PMingLiU" panose="02020500000000000000" pitchFamily="18" charset="-120"/>
                              <a:cs typeface="Calibri" panose="020F0502020204030204" pitchFamily="34" charset="0"/>
                            </a:rPr>
                            <m:t>𝛾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PMingLiU" panose="02020500000000000000" pitchFamily="18" charset="-120"/>
                              <a:cs typeface="Calibri" panose="020F0502020204030204" pitchFamily="34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PMingLiU" panose="02020500000000000000" pitchFamily="18" charset="-120"/>
                                  <a:cs typeface="Calibri" panose="020F0502020204030204" pitchFamily="34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highlight>
                                                <a:srgbClr val="FFFFFF"/>
                                              </a:highlight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highlight>
                                                <a:srgbClr val="FFFFFF"/>
                                              </a:highlight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highlight>
                                                <a:srgbClr val="FFFFFF"/>
                                              </a:highlight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rgbClr val="000000"/>
                                              </a:solidFill>
                                              <a:highlight>
                                                <a:srgbClr val="FFFFFF"/>
                                              </a:highlight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1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𝒃</m:t>
                                      </m:r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  <m:sub>
                          <m:r>
                            <a:rPr 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PMingLiU" panose="02020500000000000000" pitchFamily="18" charset="-120"/>
                              <a:cs typeface="Calibri" panose="020F0502020204030204" pitchFamily="34" charset="0"/>
                            </a:rPr>
                            <m:t>𝒃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PMingLiU" panose="02020500000000000000" pitchFamily="18" charset="-120"/>
                              <a:cs typeface="Calibri" panose="020F0502020204030204" pitchFamily="34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PMingLiU" panose="02020500000000000000" pitchFamily="18" charset="-120"/>
                                  <a:cs typeface="Calibri" panose="020F0502020204030204" pitchFamily="34" charset="0"/>
                                </a:rPr>
                                <m:t>𝒃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  <a:cs typeface="Calibri" panose="020F0502020204030204" pitchFamily="34" charset="0"/>
                                    </a:rPr>
                                    <m:t>𝑟</m:t>
                                  </m:r>
                                </m:e>
                              </m:d>
                            </m:sup>
                          </m:sSup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PMingLiU" panose="02020500000000000000" pitchFamily="18" charset="-120"/>
                          <a:cs typeface="Calibri" panose="020F0502020204030204" pitchFamily="34" charset="0"/>
                        </a:rPr>
                        <m:t>,  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rgbClr val="000000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PMingLiU" panose="02020500000000000000" pitchFamily="18" charset="-12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PMingLiU" panose="02020500000000000000" pitchFamily="18" charset="-120"/>
                                  <a:cs typeface="Calibri" panose="020F0502020204030204" pitchFamily="34" charset="0"/>
                                </a:rPr>
                                <m:t>𝑟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PMingLiU" panose="02020500000000000000" pitchFamily="18" charset="-120"/>
                                  <a:cs typeface="Calibri" panose="020F0502020204030204" pitchFamily="34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PMingLiU" panose="02020500000000000000" pitchFamily="18" charset="-120"/>
                          <a:cs typeface="Calibri" panose="020F0502020204030204" pitchFamily="34" charset="0"/>
                        </a:rPr>
                        <m:t>= 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rgbClr val="000000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PMingLiU" panose="02020500000000000000" pitchFamily="18" charset="-120"/>
                              <a:cs typeface="Calibri" panose="020F0502020204030204" pitchFamily="34" charset="0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PMingLiU" panose="02020500000000000000" pitchFamily="18" charset="-120"/>
                                  <a:cs typeface="Calibri" panose="020F0502020204030204" pitchFamily="34" charset="0"/>
                                </a:rPr>
                                <m:t>𝑟</m:t>
                              </m:r>
                            </m:e>
                          </m:d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PMingLiU" panose="02020500000000000000" pitchFamily="18" charset="-120"/>
                          <a:cs typeface="Calibri" panose="020F050202020403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PMingLiU" panose="02020500000000000000" pitchFamily="18" charset="-120"/>
                              <a:cs typeface="Calibri" panose="020F0502020204030204" pitchFamily="34" charset="0"/>
                            </a:rPr>
                            <m:t>𝛾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PMingLiU" panose="02020500000000000000" pitchFamily="18" charset="-120"/>
                              <a:cs typeface="Calibri" panose="020F0502020204030204" pitchFamily="34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PMingLiU" panose="02020500000000000000" pitchFamily="18" charset="-120"/>
                                  <a:cs typeface="Calibri" panose="020F0502020204030204" pitchFamily="34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highlight>
                                                <a:srgbClr val="FFFFFF"/>
                                              </a:highlight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highlight>
                                                <a:srgbClr val="FFFFFF"/>
                                              </a:highlight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highlight>
                                                <a:srgbClr val="FFFFFF"/>
                                              </a:highlight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rgbClr val="000000"/>
                                              </a:solidFill>
                                              <a:highlight>
                                                <a:srgbClr val="FFFFFF"/>
                                              </a:highlight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1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𝒂</m:t>
                                      </m:r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  <m:sub>
                          <m:r>
                            <a:rPr 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PMingLiU" panose="02020500000000000000" pitchFamily="18" charset="-120"/>
                              <a:cs typeface="Calibri" panose="020F0502020204030204" pitchFamily="34" charset="0"/>
                            </a:rPr>
                            <m:t>𝒂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PMingLiU" panose="02020500000000000000" pitchFamily="18" charset="-120"/>
                              <a:cs typeface="Calibri" panose="020F0502020204030204" pitchFamily="34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PMingLiU" panose="02020500000000000000" pitchFamily="18" charset="-120"/>
                                  <a:cs typeface="Calibri" panose="020F0502020204030204" pitchFamily="34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PMingLiU" panose="02020500000000000000" pitchFamily="18" charset="-120"/>
                                  <a:cs typeface="Calibri" panose="020F0502020204030204" pitchFamily="34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PMingLiU" panose="02020500000000000000" pitchFamily="18" charset="-120"/>
                                  <a:cs typeface="Calibri" panose="020F0502020204030204" pitchFamily="34" charset="0"/>
                                </a:rPr>
                                <m:t>𝑟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PMingLiU" panose="02020500000000000000" pitchFamily="18" charset="-120"/>
                                  <a:cs typeface="Calibri" panose="020F0502020204030204" pitchFamily="34" charset="0"/>
                                </a:rPr>
                                <m:t>)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0000"/>
                  </a:solidFill>
                  <a:highlight>
                    <a:srgbClr val="FFFFFF"/>
                  </a:highlight>
                  <a:latin typeface="+mn-lt"/>
                  <a:ea typeface="PMingLiU" panose="02020500000000000000" pitchFamily="18" charset="-12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+mn-lt"/>
                    <a:ea typeface="PMingLiU" panose="02020500000000000000" pitchFamily="18" charset="-12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Calibri" panose="020F0502020204030204" pitchFamily="34" charset="0"/>
                          </a:rPr>
                          <m:t>𝛾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Calibri" panose="020F0502020204030204" pitchFamily="34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+mn-lt"/>
                    <a:ea typeface="PMingLiU" panose="02020500000000000000" pitchFamily="18" charset="-120"/>
                  </a:rPr>
                  <a:t>is called the learning rate.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400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+mn-lt"/>
                    <a:ea typeface="PMingLiU" panose="02020500000000000000" pitchFamily="18" charset="-120"/>
                  </a:rPr>
                  <a:t>In the project, cross validation method is used to train ANN models and obtain best M(number of hidden units)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Calibri" panose="020F0502020204030204" pitchFamily="34" charset="0"/>
                          </a:rPr>
                          <m:t>𝛾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Calibri" panose="020F0502020204030204" pitchFamily="34" charset="0"/>
                          </a:rPr>
                          <m:t>𝑟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Calibri" panose="020F0502020204030204" pitchFamily="34" charset="0"/>
                          </a:rPr>
                          <m:t>.</m:t>
                        </m:r>
                      </m:sub>
                    </m:sSub>
                  </m:oMath>
                </a14:m>
                <a:endParaRPr lang="en-US" sz="2400" dirty="0">
                  <a:solidFill>
                    <a:srgbClr val="000000"/>
                  </a:solidFill>
                  <a:highlight>
                    <a:srgbClr val="FFFFFF"/>
                  </a:highlight>
                  <a:latin typeface="+mn-lt"/>
                  <a:ea typeface="PMingLiU" panose="02020500000000000000" pitchFamily="18" charset="-120"/>
                </a:endParaRPr>
              </a:p>
              <a:p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2F953A-D5B8-73B1-FB5F-5F86540FE2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18" t="-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6F853-A468-4127-BF1F-6B47D1D2D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95BA2-2FAD-FAA3-D100-F4945F739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064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EDCFE-D0C7-88F5-7097-92B935389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Point and interval estimates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FF5BCF-8FFE-9499-5E93-DB3E2DB7F8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6432"/>
              </a:xfrm>
            </p:spPr>
            <p:txBody>
              <a:bodyPr/>
              <a:lstStyle/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Point estimation for population prevalence in ANN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𝑎𝑛𝑛</m:t>
                              </m:r>
                            </m:e>
                          </m:d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\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333333"/>
                                      </a:solidFill>
                                      <a:highlight>
                                        <a:srgbClr val="FFFFFF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333333"/>
                                      </a:solidFill>
                                      <a:highlight>
                                        <a:srgbClr val="FFFFFF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acc>
                            </m:e>
                          </m:d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0" i="0" dirty="0">
                  <a:solidFill>
                    <a:srgbClr val="353740"/>
                  </a:solidFill>
                  <a:effectLst/>
                  <a:latin typeface="+mn-lt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𝑎𝑛𝑛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is the population prevalence estimate based on the fitted weights,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𝜽</m:t>
                        </m:r>
                      </m:e>
                    </m:acc>
                    <m:r>
                      <a:rPr lang="en-US" sz="240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>
                  <a:solidFill>
                    <a:srgbClr val="333333"/>
                  </a:solidFill>
                  <a:latin typeface="+mn-lt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400" dirty="0">
                    <a:latin typeface="+mn-lt"/>
                  </a:rPr>
                  <a:t> to be the predicted value with the covariate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b="0" i="0" dirty="0">
                  <a:solidFill>
                    <a:srgbClr val="353740"/>
                  </a:solidFill>
                  <a:effectLst/>
                  <a:latin typeface="+mn-lt"/>
                </a:endParaRPr>
              </a:p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Interval estimates involve Taylor series expansion and Jacobian matrix </a:t>
                </a:r>
              </a:p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Estimated asymptotic variance 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smtClean="0"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  <m:t> 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  <m:t>𝑉𝑎𝑟</m:t>
                        </m:r>
                      </m:e>
                    </m:acc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≈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  <m:t>𝑱</m:t>
                                </m:r>
                              </m:e>
                              <m:sup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  <m:t>𝑻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b="1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1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  <m:t>𝑱</m:t>
                            </m:r>
                            <m:d>
                              <m:d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b="1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1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  <m:t>−1</m:t>
                        </m:r>
                      </m:sup>
                    </m:sSup>
                  </m:oMath>
                </a14:m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FF5BCF-8FFE-9499-5E93-DB3E2DB7F8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6432"/>
              </a:xfrm>
              <a:blipFill>
                <a:blip r:embed="rId2"/>
                <a:stretch>
                  <a:fillRect l="-928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894756-491B-B013-AEEF-287FF89FB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617E52-4C3B-9CAE-4F84-AECCE5D0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5038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8048A-928B-567E-F08B-1669E03E6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Point and interval estimates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15E033-8789-5B39-DB7C-56A97FD1E4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-US" sz="2400" dirty="0">
                    <a:latin typeface="+mn-lt"/>
                  </a:rPr>
                  <a:t>   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Calibri" panose="020F0502020204030204" pitchFamily="34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PMingLiU" panose="02020500000000000000" pitchFamily="18" charset="-12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Calibri" panose="020F0502020204030204" pitchFamily="34" charset="0"/>
                          </a:rPr>
                          <m:t>𝑅𝑆𝑆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Calibri" panose="020F0502020204030204" pitchFamily="34" charset="0"/>
                          </a:rPr>
                          <m:t>−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Calibri" panose="020F0502020204030204" pitchFamily="34" charset="0"/>
                              </a:rPr>
                              <m:t>𝑞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Calibri" panose="020F0502020204030204" pitchFamily="34" charset="0"/>
                              </a:rPr>
                              <m:t>+2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Calibri" panose="020F0502020204030204" pitchFamily="34" charset="0"/>
                          </a:rPr>
                          <m:t>𝑀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Calibri" panose="020F0502020204030204" pitchFamily="34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sz="2400" dirty="0">
                    <a:latin typeface="+mn-lt"/>
                  </a:rPr>
                  <a:t>   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RSS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  <m:t>𝜽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</m:d>
                          </m:e>
                        </m:nary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>
                  <a:latin typeface="+mn-lt"/>
                </a:endParaRPr>
              </a:p>
              <a:p>
                <a:pPr algn="just">
                  <a:lnSpc>
                    <a:spcPct val="115000"/>
                  </a:lnSpc>
                  <a:spcBef>
                    <a:spcPts val="0"/>
                  </a:spcBef>
                </a:pPr>
                <a:r>
                  <a:rPr lang="en-US" sz="2400" dirty="0">
                    <a:latin typeface="+mn-lt"/>
                    <a:ea typeface="Cambria Math" panose="02040503050406030204" pitchFamily="18" charset="0"/>
                    <a:cs typeface="Calibri" panose="020F0502020204030204" pitchFamily="34" charset="0"/>
                  </a:rPr>
                  <a:t>The </a:t>
                </a:r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100%</m:t>
                    </m:r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Wald confidence interval for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𝑎𝑛𝑛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is,</a:t>
                </a:r>
              </a:p>
              <a:p>
                <a:pPr marL="0" indent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𝑎𝑛𝑛</m:t>
                              </m:r>
                            </m:e>
                          </m:d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/2 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𝑆𝐸</m:t>
                          </m:r>
                        </m:e>
                      </m:acc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𝑎𝑛𝑛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sz="2400" dirty="0">
                  <a:latin typeface="+mn-lt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0" indent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  where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𝑆𝐸</m:t>
                        </m:r>
                      </m:e>
                    </m:acc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𝑎𝑛𝑛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is the estimate of the standard error given as                   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𝑆𝐸</m:t>
                        </m:r>
                      </m:e>
                    </m:acc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𝑎𝑛𝑛</m:t>
                                </m:r>
                              </m:e>
                            </m:d>
                          </m:sup>
                        </m:sSub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𝑎𝑛𝑛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1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𝜽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𝜽</m:t>
                                    </m:r>
                                  </m:den>
                                </m:f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𝜽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acc>
                          </m:sub>
                        </m:sSub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  <m:t>𝑉𝑎𝑟</m:t>
                            </m:r>
                          </m:e>
                        </m:acc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acc>
                          </m:e>
                        </m:d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"/>
                                        <m:endChr m:val="|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acc>
                                                  <m:accPr>
                                                    <m:chr m:val="̂"/>
                                                    <m:ctrlPr>
                                                      <a:rPr lang="en-US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Cambria Math" panose="02040503050406030204" pitchFamily="18" charset="0"/>
                                                      </a:rPr>
                                                      <m:t>𝑝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Cambria Math" panose="02040503050406030204" pitchFamily="18" charset="0"/>
                                                      </a:rPr>
                                                      <m:t>𝑎𝑛𝑛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  <m:d>
                                              <m:dPr>
                                                <m:ctrlP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400" b="1" i="1">
                                                    <a:solidFill>
                                                      <a:srgbClr val="333333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Cambria Math" panose="02040503050406030204" pitchFamily="18" charset="0"/>
                                                  </a:rPr>
                                                  <m:t>𝜽</m:t>
                                                </m:r>
                                              </m:e>
                                            </m:d>
                                          </m:num>
                                          <m:den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24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𝜽</m:t>
                                            </m:r>
                                          </m:den>
                                        </m:f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𝜽</m:t>
                                    </m:r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=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4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b="1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𝜽</m:t>
                                        </m:r>
                                      </m:e>
                                    </m:acc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rad>
                  </m:oMath>
                </a14:m>
                <a:endParaRPr lang="en-US" sz="2400" dirty="0">
                  <a:latin typeface="+mn-lt"/>
                  <a:ea typeface="PMingLiU" panose="02020500000000000000" pitchFamily="18" charset="-120"/>
                </a:endParaRPr>
              </a:p>
              <a:p>
                <a:pPr marL="0" indent="0">
                  <a:buNone/>
                </a:pPr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15E033-8789-5B39-DB7C-56A97FD1E4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FB3A4-9514-242F-FA09-88A4D003A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83418-4B6D-7137-8671-52F36B7C6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5880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B8ED9-0CC3-F17F-3BED-E3AD64F1C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Model-assisted ANN with difference estimator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3E6684-2BAD-D466-FF35-CDA8CF3196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Fit ANN using sample design weights,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and minimize loss function,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)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𝜽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400" b="0" i="0" dirty="0">
                  <a:solidFill>
                    <a:srgbClr val="353740"/>
                  </a:solidFill>
                  <a:effectLst/>
                  <a:latin typeface="+mn-lt"/>
                </a:endParaRPr>
              </a:p>
              <a:p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Calculate predicted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</a:t>
                </a:r>
                <a:r>
                  <a:rPr lang="en-US" sz="2400" b="0" i="0" dirty="0">
                    <a:solidFill>
                      <a:srgbClr val="353740"/>
                    </a:solidFill>
                    <a:effectLst/>
                    <a:latin typeface="+mn-lt"/>
                  </a:rPr>
                  <a:t>based on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Calibri" panose="020F0502020204030204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Calibri" panose="020F0502020204030204" pitchFamily="34" charset="0"/>
                      </a:rPr>
                      <m:t>as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333333"/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333333"/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acc>
                          </m:e>
                          <m:sup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sz="2400" b="0" i="0" dirty="0">
                  <a:solidFill>
                    <a:srgbClr val="353740"/>
                  </a:solidFill>
                  <a:effectLst/>
                  <a:latin typeface="+mn-lt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e>
                    </m:d>
                    <m:r>
                      <a:rPr lang="en-US" sz="2400" b="1" i="1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+mn-lt"/>
                  </a:rPr>
                  <a:t> can be rewritten </a:t>
                </a:r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as </a:t>
                </a:r>
                <a:r>
                  <a:rPr lang="en-US" sz="2400" dirty="0">
                    <a:solidFill>
                      <a:srgbClr val="000000"/>
                    </a:solidFill>
                    <a:latin typeface="+mn-lt"/>
                    <a:ea typeface="PMingLiU" panose="02020500000000000000" pitchFamily="18" charset="-120"/>
                  </a:rPr>
                  <a:t>the difference estimator of the population prevalence</a:t>
                </a:r>
                <a:r>
                  <a:rPr lang="en-US" sz="24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𝐷𝑖𝑓𝑓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+mn-lt"/>
                    <a:ea typeface="PMingLiU" panose="02020500000000000000" pitchFamily="18" charset="-120"/>
                  </a:rPr>
                  <a:t>=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𝐷𝐼𝐹𝐹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acc>
                          </m:e>
                          <m:sup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sz="2400" dirty="0">
                  <a:latin typeface="+mn-lt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+mn-lt"/>
                    <a:ea typeface="Cambria Math" panose="02040503050406030204" pitchFamily="18" charset="0"/>
                    <a:cs typeface="Cambria Math" panose="02040503050406030204" pitchFamily="18" charset="0"/>
                  </a:rPr>
                  <a:t>                                              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𝑈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solidFill>
                                      <a:srgbClr val="333333"/>
                                    </a:solidFill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333333"/>
                                    </a:solidFill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1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</m:acc>
                              </m:e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</m:nary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 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 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>
                                        <a:solidFill>
                                          <a:srgbClr val="333333"/>
                                        </a:solidFill>
                                        <a:highlight>
                                          <a:srgbClr val="FFFFFF"/>
                                        </a:highlight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333333"/>
                                        </a:solidFill>
                                        <a:highlight>
                                          <a:srgbClr val="FFFFFF"/>
                                        </a:highlight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4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b="1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𝜽</m:t>
                                        </m:r>
                                      </m:e>
                                    </m:acc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4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r>
                  <a:rPr lang="en-US" sz="2400" dirty="0">
                    <a:latin typeface="+mn-lt"/>
                    <a:ea typeface="Cambria Math" panose="02040503050406030204" pitchFamily="18" charset="0"/>
                    <a:cs typeface="Cambria Math" panose="02040503050406030204" pitchFamily="18" charset="0"/>
                  </a:rPr>
                  <a:t>  </a:t>
                </a:r>
                <a:endParaRPr lang="en-US" sz="2400" dirty="0">
                  <a:latin typeface="+mn-lt"/>
                  <a:ea typeface="PMingLiU" panose="02020500000000000000" pitchFamily="18" charset="-12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                                     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𝑈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solidFill>
                                      <a:srgbClr val="333333"/>
                                    </a:solidFill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333333"/>
                                    </a:solidFill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1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</m:acc>
                              </m:e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</m:nary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 +</m:t>
                    </m:r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𝐻𝑇</m:t>
                    </m:r>
                    <m:d>
                      <m:d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1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</m:acc>
                              </m:e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3E6684-2BAD-D466-FF35-CDA8CF3196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67" t="-7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DD574D-317D-5C52-2584-C2A92C751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8E7368-3909-CAE7-1932-9F81F997B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5666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11B764-B2FF-51F5-154B-2E0A7A671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Model-assisted ANN with difference estimator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32304B-D7D0-F05E-C2EE-FAD5E29891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>
                    <a:latin typeface="+mn-lt"/>
                  </a:rPr>
                  <a:t>Variance for the difference estimator is given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𝑉𝑎𝑟</m:t>
                          </m:r>
                        </m:e>
                      </m:acc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𝐷𝐼𝐹𝐹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;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1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acc>
                                </m:e>
                                <m:sup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𝐻𝑇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PMingLiU" panose="02020500000000000000" pitchFamily="18" charset="-12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sz="24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400" i="1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</m:acc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400" i="1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                                              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∆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𝑘𝑙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  <a:cs typeface="Calibri" panose="020F0502020204030204" pitchFamily="34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  <a:cs typeface="Calibri" panose="020F0502020204030204" pitchFamily="34" charset="0"/>
                                    </a:rPr>
                                    <m:t>𝑘𝑙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400" b="1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𝒌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400" i="1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</m:acc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400" i="1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400" i="1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</m:acc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400" i="1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sz="2400" dirty="0">
                  <a:latin typeface="+mn-lt"/>
                </a:endParaRPr>
              </a:p>
              <a:p>
                <a:pPr algn="just">
                  <a:lnSpc>
                    <a:spcPct val="100000"/>
                  </a:lnSpc>
                </a:pPr>
                <a:r>
                  <a:rPr lang="en-US" sz="2400" dirty="0">
                    <a:latin typeface="+mn-lt"/>
                    <a:ea typeface="Cambria Math" panose="02040503050406030204" pitchFamily="18" charset="0"/>
                  </a:rPr>
                  <a:t>The </a:t>
                </a:r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100%</m:t>
                    </m:r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Wald confidence interval for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𝐷𝐼𝐹𝐹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is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𝐷𝐼𝐹𝐹</m:t>
                              </m:r>
                            </m:e>
                          </m:d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/2 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𝑆𝐸</m:t>
                          </m:r>
                        </m:e>
                      </m:acc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latin typeface="Cambria Math" panose="02040503050406030204" pitchFamily="18" charset="0"/>
                              <a:ea typeface="PMingLiU" panose="02020500000000000000" pitchFamily="18" charset="-120"/>
                              <a:cs typeface="Calibri" panose="020F0502020204030204" pitchFamily="34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𝐷𝐼𝐹𝐹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sz="2400" dirty="0">
                  <a:latin typeface="+mn-lt"/>
                  <a:ea typeface="PMingLiU" panose="02020500000000000000" pitchFamily="18" charset="-12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+mn-lt"/>
                    <a:ea typeface="PMingLiU" panose="02020500000000000000" pitchFamily="18" charset="-120"/>
                  </a:rPr>
                  <a:t>   where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𝑆𝐸</m:t>
                        </m:r>
                      </m:e>
                    </m:acc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Calibri" panose="020F0502020204030204" pitchFamily="34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𝐷𝐼𝐹𝐹</m:t>
                                </m:r>
                              </m:e>
                            </m:d>
                          </m:sup>
                        </m:sSub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PMingLiU" panose="02020500000000000000" pitchFamily="18" charset="-120"/>
                        <a:cs typeface="Calibri" panose="020F050202020403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𝑉𝑎𝑟</m:t>
                            </m:r>
                          </m:e>
                        </m:acc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𝐷𝐼𝐹𝐹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4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b="1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𝜽</m:t>
                                        </m:r>
                                      </m:e>
                                    </m:acc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4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</m:rad>
                  </m:oMath>
                </a14:m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32304B-D7D0-F05E-C2EE-FAD5E29891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9" t="-2121"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F0BB4-9938-EFE2-23A9-8E2F6391F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5244B-C17C-5341-BA06-D4DEBB6BA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9049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3847A-AD05-370E-D103-46FE77864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Simulation settings and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8B57B-9955-313B-61A0-900C0D88A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R software for CLSA 2020 simulation </a:t>
            </a:r>
          </a:p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Generate population data compatible with target population from CLSA 2020 </a:t>
            </a:r>
          </a:p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Create gene indicators related to provinces, two disease indicators related to covariates, sex and smoking status </a:t>
            </a:r>
          </a:p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Set proportions of population having Diseases 1 and 2 to 25.6% and 36.8% respectively </a:t>
            </a:r>
          </a:p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Vary sample sizes to observe their effect on prevalence estimation</a:t>
            </a:r>
            <a:endParaRPr lang="en-US" sz="2400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F361B2-5C77-78EF-D052-F46C46C58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50BE63-36F3-9AC5-B2A6-58CDCB60B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2098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9693247A-A565-5526-636D-22E368D9EC9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40452587"/>
                  </p:ext>
                </p:extLst>
              </p:nvPr>
            </p:nvGraphicFramePr>
            <p:xfrm>
              <a:off x="643468" y="1039157"/>
              <a:ext cx="10905067" cy="477969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098097">
                      <a:extLst>
                        <a:ext uri="{9D8B030D-6E8A-4147-A177-3AD203B41FA5}">
                          <a16:colId xmlns:a16="http://schemas.microsoft.com/office/drawing/2014/main" val="1924069067"/>
                        </a:ext>
                      </a:extLst>
                    </a:gridCol>
                    <a:gridCol w="2903485">
                      <a:extLst>
                        <a:ext uri="{9D8B030D-6E8A-4147-A177-3AD203B41FA5}">
                          <a16:colId xmlns:a16="http://schemas.microsoft.com/office/drawing/2014/main" val="4173880779"/>
                        </a:ext>
                      </a:extLst>
                    </a:gridCol>
                    <a:gridCol w="2903485">
                      <a:extLst>
                        <a:ext uri="{9D8B030D-6E8A-4147-A177-3AD203B41FA5}">
                          <a16:colId xmlns:a16="http://schemas.microsoft.com/office/drawing/2014/main" val="3897140105"/>
                        </a:ext>
                      </a:extLst>
                    </a:gridCol>
                  </a:tblGrid>
                  <a:tr h="60630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3200">
                              <a:effectLst/>
                            </a:rPr>
                            <a:t> </a:t>
                          </a:r>
                          <a:endParaRPr lang="en-US" sz="2500">
                            <a:effectLst/>
                            <a:latin typeface="Calibri" panose="020F0502020204030204" pitchFamily="34" charset="0"/>
                            <a:ea typeface="PMingLiU" panose="02020500000000000000" pitchFamily="18" charset="-120"/>
                          </a:endParaRPr>
                        </a:p>
                      </a:txBody>
                      <a:tcPr marL="156241" marR="156241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3200">
                              <a:effectLst/>
                            </a:rPr>
                            <a:t>Disease 1</a:t>
                          </a:r>
                          <a:endParaRPr lang="en-US" sz="2500">
                            <a:effectLst/>
                            <a:latin typeface="Calibri" panose="020F0502020204030204" pitchFamily="34" charset="0"/>
                            <a:ea typeface="PMingLiU" panose="02020500000000000000" pitchFamily="18" charset="-120"/>
                          </a:endParaRPr>
                        </a:p>
                      </a:txBody>
                      <a:tcPr marL="156241" marR="156241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3200">
                              <a:effectLst/>
                            </a:rPr>
                            <a:t>Disease 2</a:t>
                          </a:r>
                          <a:endParaRPr lang="en-US" sz="2500">
                            <a:effectLst/>
                            <a:latin typeface="Calibri" panose="020F0502020204030204" pitchFamily="34" charset="0"/>
                            <a:ea typeface="PMingLiU" panose="02020500000000000000" pitchFamily="18" charset="-120"/>
                          </a:endParaRPr>
                        </a:p>
                      </a:txBody>
                      <a:tcPr marL="156241" marR="156241" marT="0" marB="0"/>
                    </a:tc>
                    <a:extLst>
                      <a:ext uri="{0D108BD9-81ED-4DB2-BD59-A6C34878D82A}">
                        <a16:rowId xmlns:a16="http://schemas.microsoft.com/office/drawing/2014/main" val="1089185564"/>
                      </a:ext>
                    </a:extLst>
                  </a:tr>
                  <a:tr h="67372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3200">
                              <a:effectLst/>
                            </a:rPr>
                            <a:t>Population Prevelence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3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>
                                      <a:effectLst/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sz="3200">
                                      <a:effectLst/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sub>
                              </m:sSub>
                            </m:oMath>
                          </a14:m>
                          <a:endParaRPr lang="en-US" sz="2500">
                            <a:effectLst/>
                            <a:latin typeface="Calibri" panose="020F0502020204030204" pitchFamily="34" charset="0"/>
                            <a:ea typeface="PMingLiU" panose="02020500000000000000" pitchFamily="18" charset="-120"/>
                          </a:endParaRPr>
                        </a:p>
                      </a:txBody>
                      <a:tcPr marL="156241" marR="156241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3200">
                              <a:effectLst/>
                            </a:rPr>
                            <a:t>25.6%</a:t>
                          </a:r>
                          <a:endParaRPr lang="en-US" sz="2500">
                            <a:effectLst/>
                            <a:latin typeface="Calibri" panose="020F0502020204030204" pitchFamily="34" charset="0"/>
                            <a:ea typeface="PMingLiU" panose="02020500000000000000" pitchFamily="18" charset="-120"/>
                          </a:endParaRPr>
                        </a:p>
                      </a:txBody>
                      <a:tcPr marL="156241" marR="156241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3200">
                              <a:effectLst/>
                            </a:rPr>
                            <a:t>36.8%</a:t>
                          </a:r>
                          <a:endParaRPr lang="en-US" sz="2500">
                            <a:effectLst/>
                            <a:latin typeface="Calibri" panose="020F0502020204030204" pitchFamily="34" charset="0"/>
                            <a:ea typeface="PMingLiU" panose="02020500000000000000" pitchFamily="18" charset="-120"/>
                          </a:endParaRPr>
                        </a:p>
                      </a:txBody>
                      <a:tcPr marL="156241" marR="156241" marT="0" marB="0"/>
                    </a:tc>
                    <a:extLst>
                      <a:ext uri="{0D108BD9-81ED-4DB2-BD59-A6C34878D82A}">
                        <a16:rowId xmlns:a16="http://schemas.microsoft.com/office/drawing/2014/main" val="833596759"/>
                      </a:ext>
                    </a:extLst>
                  </a:tr>
                  <a:tr h="1167181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3200">
                              <a:effectLst/>
                            </a:rPr>
                            <a:t>Genetic variable involved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3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3200">
                                      <a:effectLst/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oMath>
                          </a14:m>
                          <a:endParaRPr lang="en-US" sz="2500">
                            <a:effectLst/>
                            <a:latin typeface="Calibri" panose="020F0502020204030204" pitchFamily="34" charset="0"/>
                            <a:ea typeface="PMingLiU" panose="02020500000000000000" pitchFamily="18" charset="-120"/>
                          </a:endParaRPr>
                        </a:p>
                      </a:txBody>
                      <a:tcPr marL="156241" marR="156241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3200">
                              <a:effectLst/>
                            </a:rPr>
                            <a:t>Gen1</a:t>
                          </a:r>
                          <a:endParaRPr lang="en-US" sz="2500">
                            <a:effectLst/>
                            <a:latin typeface="Calibri" panose="020F0502020204030204" pitchFamily="34" charset="0"/>
                            <a:ea typeface="PMingLiU" panose="02020500000000000000" pitchFamily="18" charset="-120"/>
                          </a:endParaRPr>
                        </a:p>
                      </a:txBody>
                      <a:tcPr marL="156241" marR="156241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3200">
                              <a:effectLst/>
                            </a:rPr>
                            <a:t>Gen2</a:t>
                          </a:r>
                          <a:endParaRPr lang="en-US" sz="2500">
                            <a:effectLst/>
                            <a:latin typeface="Calibri" panose="020F0502020204030204" pitchFamily="34" charset="0"/>
                            <a:ea typeface="PMingLiU" panose="02020500000000000000" pitchFamily="18" charset="-120"/>
                          </a:endParaRPr>
                        </a:p>
                      </a:txBody>
                      <a:tcPr marL="156241" marR="156241" marT="0" marB="0"/>
                    </a:tc>
                    <a:extLst>
                      <a:ext uri="{0D108BD9-81ED-4DB2-BD59-A6C34878D82A}">
                        <a16:rowId xmlns:a16="http://schemas.microsoft.com/office/drawing/2014/main" val="3699476761"/>
                      </a:ext>
                    </a:extLst>
                  </a:tr>
                  <a:tr h="1165303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3200">
                              <a:effectLst/>
                            </a:rPr>
                            <a:t>Common variables involved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3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3200">
                                      <a:effectLst/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3200"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3200">
                                      <a:effectLst/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a14:m>
                          <a:endParaRPr lang="en-US" sz="2500">
                            <a:effectLst/>
                            <a:latin typeface="Calibri" panose="020F0502020204030204" pitchFamily="34" charset="0"/>
                            <a:ea typeface="PMingLiU" panose="02020500000000000000" pitchFamily="18" charset="-120"/>
                          </a:endParaRPr>
                        </a:p>
                      </a:txBody>
                      <a:tcPr marL="156241" marR="156241" marT="0" marB="0"/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3200">
                              <a:effectLst/>
                            </a:rPr>
                            <a:t>sex and smoking status</a:t>
                          </a:r>
                          <a:endParaRPr lang="en-US" sz="2500">
                            <a:effectLst/>
                            <a:latin typeface="Calibri" panose="020F0502020204030204" pitchFamily="34" charset="0"/>
                            <a:ea typeface="PMingLiU" panose="02020500000000000000" pitchFamily="18" charset="-120"/>
                          </a:endParaRPr>
                        </a:p>
                      </a:txBody>
                      <a:tcPr marL="156241" marR="156241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13781092"/>
                      </a:ext>
                    </a:extLst>
                  </a:tr>
                  <a:tr h="1167181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3200">
                              <a:effectLst/>
                            </a:rPr>
                            <a:t>Sample sizes considered </a:t>
                          </a:r>
                          <a14:m>
                            <m:oMath xmlns:m="http://schemas.openxmlformats.org/officeDocument/2006/math">
                              <m:r>
                                <a:rPr lang="en-US" sz="3200">
                                  <a:effectLst/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oMath>
                          </a14:m>
                          <a:endParaRPr lang="en-US" sz="2500">
                            <a:effectLst/>
                            <a:latin typeface="Calibri" panose="020F0502020204030204" pitchFamily="34" charset="0"/>
                            <a:ea typeface="PMingLiU" panose="02020500000000000000" pitchFamily="18" charset="-120"/>
                          </a:endParaRPr>
                        </a:p>
                      </a:txBody>
                      <a:tcPr marL="156241" marR="156241" marT="0" marB="0"/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3200">
                              <a:effectLst/>
                            </a:rPr>
                            <a:t>1000 (Small), 5000(Medium), 21000(Large)</a:t>
                          </a:r>
                          <a:endParaRPr lang="en-US" sz="2500">
                            <a:effectLst/>
                            <a:latin typeface="Calibri" panose="020F0502020204030204" pitchFamily="34" charset="0"/>
                            <a:ea typeface="PMingLiU" panose="02020500000000000000" pitchFamily="18" charset="-120"/>
                          </a:endParaRPr>
                        </a:p>
                      </a:txBody>
                      <a:tcPr marL="156241" marR="156241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16468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9693247A-A565-5526-636D-22E368D9EC9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40452587"/>
                  </p:ext>
                </p:extLst>
              </p:nvPr>
            </p:nvGraphicFramePr>
            <p:xfrm>
              <a:off x="643468" y="1039157"/>
              <a:ext cx="10905067" cy="477969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098097">
                      <a:extLst>
                        <a:ext uri="{9D8B030D-6E8A-4147-A177-3AD203B41FA5}">
                          <a16:colId xmlns:a16="http://schemas.microsoft.com/office/drawing/2014/main" val="1924069067"/>
                        </a:ext>
                      </a:extLst>
                    </a:gridCol>
                    <a:gridCol w="2903485">
                      <a:extLst>
                        <a:ext uri="{9D8B030D-6E8A-4147-A177-3AD203B41FA5}">
                          <a16:colId xmlns:a16="http://schemas.microsoft.com/office/drawing/2014/main" val="4173880779"/>
                        </a:ext>
                      </a:extLst>
                    </a:gridCol>
                    <a:gridCol w="2903485">
                      <a:extLst>
                        <a:ext uri="{9D8B030D-6E8A-4147-A177-3AD203B41FA5}">
                          <a16:colId xmlns:a16="http://schemas.microsoft.com/office/drawing/2014/main" val="3897140105"/>
                        </a:ext>
                      </a:extLst>
                    </a:gridCol>
                  </a:tblGrid>
                  <a:tr h="60630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3200">
                              <a:effectLst/>
                            </a:rPr>
                            <a:t> </a:t>
                          </a:r>
                          <a:endParaRPr lang="en-US" sz="2500">
                            <a:effectLst/>
                            <a:latin typeface="Calibri" panose="020F0502020204030204" pitchFamily="34" charset="0"/>
                            <a:ea typeface="PMingLiU" panose="02020500000000000000" pitchFamily="18" charset="-120"/>
                          </a:endParaRPr>
                        </a:p>
                      </a:txBody>
                      <a:tcPr marL="156241" marR="156241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3200">
                              <a:effectLst/>
                            </a:rPr>
                            <a:t>Disease 1</a:t>
                          </a:r>
                          <a:endParaRPr lang="en-US" sz="2500">
                            <a:effectLst/>
                            <a:latin typeface="Calibri" panose="020F0502020204030204" pitchFamily="34" charset="0"/>
                            <a:ea typeface="PMingLiU" panose="02020500000000000000" pitchFamily="18" charset="-120"/>
                          </a:endParaRPr>
                        </a:p>
                      </a:txBody>
                      <a:tcPr marL="156241" marR="156241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3200">
                              <a:effectLst/>
                            </a:rPr>
                            <a:t>Disease 2</a:t>
                          </a:r>
                          <a:endParaRPr lang="en-US" sz="2500">
                            <a:effectLst/>
                            <a:latin typeface="Calibri" panose="020F0502020204030204" pitchFamily="34" charset="0"/>
                            <a:ea typeface="PMingLiU" panose="02020500000000000000" pitchFamily="18" charset="-120"/>
                          </a:endParaRPr>
                        </a:p>
                      </a:txBody>
                      <a:tcPr marL="156241" marR="156241" marT="0" marB="0"/>
                    </a:tc>
                    <a:extLst>
                      <a:ext uri="{0D108BD9-81ED-4DB2-BD59-A6C34878D82A}">
                        <a16:rowId xmlns:a16="http://schemas.microsoft.com/office/drawing/2014/main" val="1089185564"/>
                      </a:ext>
                    </a:extLst>
                  </a:tr>
                  <a:tr h="673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56241" marR="156241" marT="0" marB="0">
                        <a:blipFill>
                          <a:blip r:embed="rId2"/>
                          <a:stretch>
                            <a:fillRect l="-119" t="-102727" r="-114337" b="-54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3200">
                              <a:effectLst/>
                            </a:rPr>
                            <a:t>25.6%</a:t>
                          </a:r>
                          <a:endParaRPr lang="en-US" sz="2500">
                            <a:effectLst/>
                            <a:latin typeface="Calibri" panose="020F0502020204030204" pitchFamily="34" charset="0"/>
                            <a:ea typeface="PMingLiU" panose="02020500000000000000" pitchFamily="18" charset="-120"/>
                          </a:endParaRPr>
                        </a:p>
                      </a:txBody>
                      <a:tcPr marL="156241" marR="156241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3200">
                              <a:effectLst/>
                            </a:rPr>
                            <a:t>36.8%</a:t>
                          </a:r>
                          <a:endParaRPr lang="en-US" sz="2500">
                            <a:effectLst/>
                            <a:latin typeface="Calibri" panose="020F0502020204030204" pitchFamily="34" charset="0"/>
                            <a:ea typeface="PMingLiU" panose="02020500000000000000" pitchFamily="18" charset="-120"/>
                          </a:endParaRPr>
                        </a:p>
                      </a:txBody>
                      <a:tcPr marL="156241" marR="156241" marT="0" marB="0"/>
                    </a:tc>
                    <a:extLst>
                      <a:ext uri="{0D108BD9-81ED-4DB2-BD59-A6C34878D82A}">
                        <a16:rowId xmlns:a16="http://schemas.microsoft.com/office/drawing/2014/main" val="833596759"/>
                      </a:ext>
                    </a:extLst>
                  </a:tr>
                  <a:tr h="11671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56241" marR="156241" marT="0" marB="0">
                        <a:blipFill>
                          <a:blip r:embed="rId2"/>
                          <a:stretch>
                            <a:fillRect l="-119" t="-116146" r="-114337" b="-214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3200">
                              <a:effectLst/>
                            </a:rPr>
                            <a:t>Gen1</a:t>
                          </a:r>
                          <a:endParaRPr lang="en-US" sz="2500">
                            <a:effectLst/>
                            <a:latin typeface="Calibri" panose="020F0502020204030204" pitchFamily="34" charset="0"/>
                            <a:ea typeface="PMingLiU" panose="02020500000000000000" pitchFamily="18" charset="-120"/>
                          </a:endParaRPr>
                        </a:p>
                      </a:txBody>
                      <a:tcPr marL="156241" marR="156241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3200">
                              <a:effectLst/>
                            </a:rPr>
                            <a:t>Gen2</a:t>
                          </a:r>
                          <a:endParaRPr lang="en-US" sz="2500">
                            <a:effectLst/>
                            <a:latin typeface="Calibri" panose="020F0502020204030204" pitchFamily="34" charset="0"/>
                            <a:ea typeface="PMingLiU" panose="02020500000000000000" pitchFamily="18" charset="-120"/>
                          </a:endParaRPr>
                        </a:p>
                      </a:txBody>
                      <a:tcPr marL="156241" marR="156241" marT="0" marB="0"/>
                    </a:tc>
                    <a:extLst>
                      <a:ext uri="{0D108BD9-81ED-4DB2-BD59-A6C34878D82A}">
                        <a16:rowId xmlns:a16="http://schemas.microsoft.com/office/drawing/2014/main" val="3699476761"/>
                      </a:ext>
                    </a:extLst>
                  </a:tr>
                  <a:tr h="11653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56241" marR="156241" marT="0" marB="0">
                        <a:blipFill>
                          <a:blip r:embed="rId2"/>
                          <a:stretch>
                            <a:fillRect l="-119" t="-217277" r="-114337" b="-115183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3200">
                              <a:effectLst/>
                            </a:rPr>
                            <a:t>sex and smoking status</a:t>
                          </a:r>
                          <a:endParaRPr lang="en-US" sz="2500">
                            <a:effectLst/>
                            <a:latin typeface="Calibri" panose="020F0502020204030204" pitchFamily="34" charset="0"/>
                            <a:ea typeface="PMingLiU" panose="02020500000000000000" pitchFamily="18" charset="-120"/>
                          </a:endParaRPr>
                        </a:p>
                      </a:txBody>
                      <a:tcPr marL="156241" marR="156241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13781092"/>
                      </a:ext>
                    </a:extLst>
                  </a:tr>
                  <a:tr h="11671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56241" marR="156241" marT="0" marB="0">
                        <a:blipFill>
                          <a:blip r:embed="rId2"/>
                          <a:stretch>
                            <a:fillRect l="-119" t="-315625" r="-114337" b="-14583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3200">
                              <a:effectLst/>
                            </a:rPr>
                            <a:t>1000 (Small), 5000(Medium), 21000(Large)</a:t>
                          </a:r>
                          <a:endParaRPr lang="en-US" sz="2500">
                            <a:effectLst/>
                            <a:latin typeface="Calibri" panose="020F0502020204030204" pitchFamily="34" charset="0"/>
                            <a:ea typeface="PMingLiU" panose="02020500000000000000" pitchFamily="18" charset="-120"/>
                          </a:endParaRPr>
                        </a:p>
                      </a:txBody>
                      <a:tcPr marL="156241" marR="156241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164686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1C6FD7-4AA9-A7A0-3224-E170C13AF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2239D-B933-DC54-AF72-728FF9A3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92616C3-7DD6-5B2A-BBB7-5812B6788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468" y="343718"/>
            <a:ext cx="60963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zh-TW" sz="3200" dirty="0">
                <a:solidFill>
                  <a:srgbClr val="44546A"/>
                </a:solidFill>
                <a:latin typeface="Calibri" panose="020F0502020204030204" pitchFamily="34" charset="0"/>
                <a:ea typeface="PMingLiU" panose="02020500000000000000" pitchFamily="18" charset="-120"/>
                <a:cs typeface="Calibri" panose="020F0502020204030204" pitchFamily="34" charset="0"/>
              </a:rPr>
              <a:t>Summary of the simulation settings</a:t>
            </a:r>
            <a:endParaRPr lang="en-US" altLang="zh-TW" sz="3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7744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6B01D821-72DC-2D2E-C7DD-63FF376A0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82" y="2862469"/>
            <a:ext cx="3571810" cy="201764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TW" sz="32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Summary of the information that various methods can incorporate</a:t>
            </a:r>
            <a:endParaRPr lang="en-US" altLang="zh-TW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zh-TW" sz="4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964BDF2-805B-EDBA-8BEE-F4925E5DF5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8579744"/>
              </p:ext>
            </p:extLst>
          </p:nvPr>
        </p:nvGraphicFramePr>
        <p:xfrm>
          <a:off x="4654296" y="1393334"/>
          <a:ext cx="7214617" cy="4043903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2401723">
                  <a:extLst>
                    <a:ext uri="{9D8B030D-6E8A-4147-A177-3AD203B41FA5}">
                      <a16:colId xmlns:a16="http://schemas.microsoft.com/office/drawing/2014/main" val="2811677065"/>
                    </a:ext>
                  </a:extLst>
                </a:gridCol>
                <a:gridCol w="2110438">
                  <a:extLst>
                    <a:ext uri="{9D8B030D-6E8A-4147-A177-3AD203B41FA5}">
                      <a16:colId xmlns:a16="http://schemas.microsoft.com/office/drawing/2014/main" val="2794299851"/>
                    </a:ext>
                  </a:extLst>
                </a:gridCol>
                <a:gridCol w="2702456">
                  <a:extLst>
                    <a:ext uri="{9D8B030D-6E8A-4147-A177-3AD203B41FA5}">
                      <a16:colId xmlns:a16="http://schemas.microsoft.com/office/drawing/2014/main" val="4095935633"/>
                    </a:ext>
                  </a:extLst>
                </a:gridCol>
              </a:tblGrid>
              <a:tr h="131197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cap="all" spc="60">
                          <a:solidFill>
                            <a:schemeClr val="tx1"/>
                          </a:solidFill>
                          <a:effectLst/>
                        </a:rPr>
                        <a:t>                  Information Method</a:t>
                      </a:r>
                      <a:endParaRPr lang="en-US" sz="1700" b="1" cap="all" spc="6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92496" marR="192496" marT="192496" marB="192496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cap="all" spc="60">
                          <a:solidFill>
                            <a:schemeClr val="tx1"/>
                          </a:solidFill>
                          <a:effectLst/>
                        </a:rPr>
                        <a:t>Covariates </a:t>
                      </a:r>
                      <a:endParaRPr lang="en-US" sz="1700" b="1" cap="all" spc="6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92496" marR="192496" marT="192496" marB="192496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cap="all" spc="60">
                          <a:solidFill>
                            <a:schemeClr val="tx1"/>
                          </a:solidFill>
                          <a:effectLst/>
                        </a:rPr>
                        <a:t>Probability sampling design</a:t>
                      </a:r>
                      <a:endParaRPr lang="en-US" sz="1700" b="1" cap="all" spc="6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92496" marR="192496" marT="192496" marB="192496" anchor="ctr"/>
                </a:tc>
                <a:extLst>
                  <a:ext uri="{0D108BD9-81ED-4DB2-BD59-A6C34878D82A}">
                    <a16:rowId xmlns:a16="http://schemas.microsoft.com/office/drawing/2014/main" val="3765754730"/>
                  </a:ext>
                </a:extLst>
              </a:tr>
              <a:tr h="5463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cap="none" spc="0" dirty="0">
                          <a:solidFill>
                            <a:schemeClr val="tx1"/>
                          </a:solidFill>
                          <a:effectLst/>
                        </a:rPr>
                        <a:t>   Direct method</a:t>
                      </a:r>
                      <a:endParaRPr lang="en-US" sz="1700" b="1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0" marR="156288" marT="0" marB="12833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US" sz="23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0" marR="156288" marT="0" marB="12833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lang="en-US" sz="23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0" marR="156288" marT="0" marB="128330"/>
                </a:tc>
                <a:extLst>
                  <a:ext uri="{0D108BD9-81ED-4DB2-BD59-A6C34878D82A}">
                    <a16:rowId xmlns:a16="http://schemas.microsoft.com/office/drawing/2014/main" val="3059583284"/>
                  </a:ext>
                </a:extLst>
              </a:tr>
              <a:tr h="5463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cap="none" spc="0" dirty="0">
                          <a:solidFill>
                            <a:schemeClr val="tx1"/>
                          </a:solidFill>
                          <a:effectLst/>
                        </a:rPr>
                        <a:t> Logistic regression</a:t>
                      </a:r>
                      <a:endParaRPr lang="en-US" sz="1700" b="1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04191" marR="156288" marT="0" marB="12833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lang="en-US" sz="23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04191" marR="156288" marT="0" marB="12833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US" sz="23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04191" marR="156288" marT="0" marB="128330"/>
                </a:tc>
                <a:extLst>
                  <a:ext uri="{0D108BD9-81ED-4DB2-BD59-A6C34878D82A}">
                    <a16:rowId xmlns:a16="http://schemas.microsoft.com/office/drawing/2014/main" val="2234166331"/>
                  </a:ext>
                </a:extLst>
              </a:tr>
              <a:tr h="5463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cap="none" spc="0" dirty="0">
                          <a:solidFill>
                            <a:schemeClr val="tx1"/>
                          </a:solidFill>
                          <a:effectLst/>
                        </a:rPr>
                        <a:t>   Logistic GREG</a:t>
                      </a:r>
                      <a:endParaRPr lang="en-US" sz="1700" b="1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0" marR="156288" marT="0" marB="12833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lang="en-US" sz="23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0" marR="156288" marT="0" marB="12833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lang="en-US" sz="23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0" marR="156288" marT="0" marB="128330"/>
                </a:tc>
                <a:extLst>
                  <a:ext uri="{0D108BD9-81ED-4DB2-BD59-A6C34878D82A}">
                    <a16:rowId xmlns:a16="http://schemas.microsoft.com/office/drawing/2014/main" val="106546939"/>
                  </a:ext>
                </a:extLst>
              </a:tr>
              <a:tr h="5463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cap="none" spc="0" dirty="0">
                          <a:solidFill>
                            <a:schemeClr val="tx1"/>
                          </a:solidFill>
                          <a:effectLst/>
                        </a:rPr>
                        <a:t> ANN</a:t>
                      </a:r>
                      <a:endParaRPr lang="en-US" sz="1700" b="1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04191" marR="156288" marT="0" marB="12833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lang="en-US" sz="23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04191" marR="156288" marT="0" marB="12833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US" sz="23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04191" marR="156288" marT="0" marB="128330"/>
                </a:tc>
                <a:extLst>
                  <a:ext uri="{0D108BD9-81ED-4DB2-BD59-A6C34878D82A}">
                    <a16:rowId xmlns:a16="http://schemas.microsoft.com/office/drawing/2014/main" val="3320098557"/>
                  </a:ext>
                </a:extLst>
              </a:tr>
              <a:tr h="5463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cap="none" spc="0" dirty="0">
                          <a:solidFill>
                            <a:schemeClr val="tx1"/>
                          </a:solidFill>
                          <a:effectLst/>
                        </a:rPr>
                        <a:t>  ANN DIFF </a:t>
                      </a:r>
                      <a:endParaRPr lang="en-US" sz="1700" b="1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0" marR="156288" marT="0" marB="12833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lang="en-US" sz="23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0" marR="156288" marT="0" marB="12833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cap="none" spc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lang="en-US" sz="23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0" marR="156288" marT="0" marB="128330"/>
                </a:tc>
                <a:extLst>
                  <a:ext uri="{0D108BD9-81ED-4DB2-BD59-A6C34878D82A}">
                    <a16:rowId xmlns:a16="http://schemas.microsoft.com/office/drawing/2014/main" val="1470480441"/>
                  </a:ext>
                </a:extLst>
              </a:tr>
            </a:tbl>
          </a:graphicData>
        </a:graphic>
      </p:graphicFrame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7E83654-3947-BEA1-775F-2DFC3957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CF24EC-D1A2-9C18-91E6-2DB3C62CD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153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194D4-EA1E-D90C-E8CA-74E056B76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kumimoji="0" lang="en-US" altLang="zh-TW" sz="3200" b="0" i="1" u="none" strike="noStrike" cap="none" normalizeH="0" baseline="0" dirty="0">
                <a:ln>
                  <a:noFill/>
                </a:ln>
                <a:effectLst/>
                <a:latin typeface="+mn-lt"/>
                <a:ea typeface="PMingLiU" panose="02020500000000000000" pitchFamily="18" charset="-120"/>
                <a:cs typeface="Calibri" panose="020F0502020204030204" pitchFamily="34" charset="0"/>
              </a:rPr>
              <a:t>Table 3 Simulation results for Disease 1 (prevalence =25.5%) when Gene 1 is observable</a:t>
            </a:r>
            <a:r>
              <a:rPr kumimoji="0" lang="en-US" altLang="zh-TW" sz="3200" b="0" i="0" u="none" strike="noStrike" cap="none" normalizeH="0" baseline="0" dirty="0">
                <a:ln>
                  <a:noFill/>
                </a:ln>
                <a:effectLst/>
                <a:latin typeface="+mn-lt"/>
                <a:ea typeface="PMingLiU" panose="02020500000000000000" pitchFamily="18" charset="-120"/>
                <a:cs typeface="Calibri" panose="020F0502020204030204" pitchFamily="34" charset="0"/>
              </a:rPr>
              <a:t> </a:t>
            </a:r>
            <a:endParaRPr kumimoji="0" lang="en-US" altLang="zh-TW" sz="32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eaLnBrk="0" fontAlgn="base" hangingPunct="0">
              <a:spcAft>
                <a:spcPct val="0"/>
              </a:spcAft>
            </a:pPr>
            <a:endParaRPr kumimoji="0" lang="en-US" altLang="zh-TW" sz="24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CB008C-52FD-993A-DED0-3A1C3B7A2E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5775491"/>
              </p:ext>
            </p:extLst>
          </p:nvPr>
        </p:nvGraphicFramePr>
        <p:xfrm>
          <a:off x="4645152" y="278104"/>
          <a:ext cx="6722347" cy="570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404">
                  <a:extLst>
                    <a:ext uri="{9D8B030D-6E8A-4147-A177-3AD203B41FA5}">
                      <a16:colId xmlns:a16="http://schemas.microsoft.com/office/drawing/2014/main" val="3195062554"/>
                    </a:ext>
                  </a:extLst>
                </a:gridCol>
                <a:gridCol w="1329602">
                  <a:extLst>
                    <a:ext uri="{9D8B030D-6E8A-4147-A177-3AD203B41FA5}">
                      <a16:colId xmlns:a16="http://schemas.microsoft.com/office/drawing/2014/main" val="578852550"/>
                    </a:ext>
                  </a:extLst>
                </a:gridCol>
                <a:gridCol w="1036799">
                  <a:extLst>
                    <a:ext uri="{9D8B030D-6E8A-4147-A177-3AD203B41FA5}">
                      <a16:colId xmlns:a16="http://schemas.microsoft.com/office/drawing/2014/main" val="2210385649"/>
                    </a:ext>
                  </a:extLst>
                </a:gridCol>
                <a:gridCol w="1228817">
                  <a:extLst>
                    <a:ext uri="{9D8B030D-6E8A-4147-A177-3AD203B41FA5}">
                      <a16:colId xmlns:a16="http://schemas.microsoft.com/office/drawing/2014/main" val="2346822148"/>
                    </a:ext>
                  </a:extLst>
                </a:gridCol>
                <a:gridCol w="1143926">
                  <a:extLst>
                    <a:ext uri="{9D8B030D-6E8A-4147-A177-3AD203B41FA5}">
                      <a16:colId xmlns:a16="http://schemas.microsoft.com/office/drawing/2014/main" val="2057560053"/>
                    </a:ext>
                  </a:extLst>
                </a:gridCol>
                <a:gridCol w="1036799">
                  <a:extLst>
                    <a:ext uri="{9D8B030D-6E8A-4147-A177-3AD203B41FA5}">
                      <a16:colId xmlns:a16="http://schemas.microsoft.com/office/drawing/2014/main" val="1562077318"/>
                    </a:ext>
                  </a:extLst>
                </a:gridCol>
              </a:tblGrid>
              <a:tr h="6095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  Stats/Size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 Direct method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 Logistic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Logistic GREG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              ANN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ANN DIFF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extLst>
                  <a:ext uri="{0D108BD9-81ED-4DB2-BD59-A6C34878D82A}">
                    <a16:rowId xmlns:a16="http://schemas.microsoft.com/office/drawing/2014/main" val="2325733839"/>
                  </a:ext>
                </a:extLst>
              </a:tr>
              <a:tr h="31876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Bias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extLst>
                  <a:ext uri="{0D108BD9-81ED-4DB2-BD59-A6C34878D82A}">
                    <a16:rowId xmlns:a16="http://schemas.microsoft.com/office/drawing/2014/main" val="1424420704"/>
                  </a:ext>
                </a:extLst>
              </a:tr>
              <a:tr h="31876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Small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-1.1117E-02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6.9449E-04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1.0124E-03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4.7852E-03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-4.1194E-04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extLst>
                  <a:ext uri="{0D108BD9-81ED-4DB2-BD59-A6C34878D82A}">
                    <a16:rowId xmlns:a16="http://schemas.microsoft.com/office/drawing/2014/main" val="432435570"/>
                  </a:ext>
                </a:extLst>
              </a:tr>
              <a:tr h="31876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Medium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-1.1444E-02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2.0753E-05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2.9901E-04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1.4463E-03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1.4391E-02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extLst>
                  <a:ext uri="{0D108BD9-81ED-4DB2-BD59-A6C34878D82A}">
                    <a16:rowId xmlns:a16="http://schemas.microsoft.com/office/drawing/2014/main" val="1206935129"/>
                  </a:ext>
                </a:extLst>
              </a:tr>
              <a:tr h="31876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Large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-1.1296E-02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-4.3618E-04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-5.5141E-04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2.8883E-04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1.2249E-02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extLst>
                  <a:ext uri="{0D108BD9-81ED-4DB2-BD59-A6C34878D82A}">
                    <a16:rowId xmlns:a16="http://schemas.microsoft.com/office/drawing/2014/main" val="1227815659"/>
                  </a:ext>
                </a:extLst>
              </a:tr>
              <a:tr h="31876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RMSE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extLst>
                  <a:ext uri="{0D108BD9-81ED-4DB2-BD59-A6C34878D82A}">
                    <a16:rowId xmlns:a16="http://schemas.microsoft.com/office/drawing/2014/main" val="4013336517"/>
                  </a:ext>
                </a:extLst>
              </a:tr>
              <a:tr h="31876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Small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5.5340E-04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2.5865E-04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3.0434E-04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2.3968E-04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4.9452E-04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extLst>
                  <a:ext uri="{0D108BD9-81ED-4DB2-BD59-A6C34878D82A}">
                    <a16:rowId xmlns:a16="http://schemas.microsoft.com/office/drawing/2014/main" val="2684132731"/>
                  </a:ext>
                </a:extLst>
              </a:tr>
              <a:tr h="31876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Medium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2.1451E-04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4.9678E-05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5.6690E-05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5.0287E-05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3.8304E-04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extLst>
                  <a:ext uri="{0D108BD9-81ED-4DB2-BD59-A6C34878D82A}">
                    <a16:rowId xmlns:a16="http://schemas.microsoft.com/office/drawing/2014/main" val="2060877924"/>
                  </a:ext>
                </a:extLst>
              </a:tr>
              <a:tr h="31876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Large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1.4720E-04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1.2259E-05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1.4312E-05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1.2272E-05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3.1943E-04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extLst>
                  <a:ext uri="{0D108BD9-81ED-4DB2-BD59-A6C34878D82A}">
                    <a16:rowId xmlns:a16="http://schemas.microsoft.com/office/drawing/2014/main" val="1283903241"/>
                  </a:ext>
                </a:extLst>
              </a:tr>
              <a:tr h="318762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CI coverage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extLst>
                  <a:ext uri="{0D108BD9-81ED-4DB2-BD59-A6C34878D82A}">
                    <a16:rowId xmlns:a16="http://schemas.microsoft.com/office/drawing/2014/main" val="3067267350"/>
                  </a:ext>
                </a:extLst>
              </a:tr>
              <a:tr h="31876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Small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8.9900E-01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9.4300E-01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9.5200E-01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9.3900E-01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7.9400E-01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extLst>
                  <a:ext uri="{0D108BD9-81ED-4DB2-BD59-A6C34878D82A}">
                    <a16:rowId xmlns:a16="http://schemas.microsoft.com/office/drawing/2014/main" val="2554203943"/>
                  </a:ext>
                </a:extLst>
              </a:tr>
              <a:tr h="31876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Medium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7.5500E-01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9.4800E-01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9.4700E-01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9.3800E-01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5.5400E-01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extLst>
                  <a:ext uri="{0D108BD9-81ED-4DB2-BD59-A6C34878D82A}">
                    <a16:rowId xmlns:a16="http://schemas.microsoft.com/office/drawing/2014/main" val="3510469765"/>
                  </a:ext>
                </a:extLst>
              </a:tr>
              <a:tr h="31876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Large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2.9400E-01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9.5100E-01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9.5100E-01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9.3900E-01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3.3600E-01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extLst>
                  <a:ext uri="{0D108BD9-81ED-4DB2-BD59-A6C34878D82A}">
                    <a16:rowId xmlns:a16="http://schemas.microsoft.com/office/drawing/2014/main" val="1789447513"/>
                  </a:ext>
                </a:extLst>
              </a:tr>
              <a:tr h="318762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CI  average width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extLst>
                  <a:ext uri="{0D108BD9-81ED-4DB2-BD59-A6C34878D82A}">
                    <a16:rowId xmlns:a16="http://schemas.microsoft.com/office/drawing/2014/main" val="3675017968"/>
                  </a:ext>
                </a:extLst>
              </a:tr>
              <a:tr h="31876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Small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8.0044E-02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6.1911E-02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6.7589E-02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5.5874E-02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5.6835E-02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extLst>
                  <a:ext uri="{0D108BD9-81ED-4DB2-BD59-A6C34878D82A}">
                    <a16:rowId xmlns:a16="http://schemas.microsoft.com/office/drawing/2014/main" val="837074475"/>
                  </a:ext>
                </a:extLst>
              </a:tr>
              <a:tr h="31876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Medium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3.5797E-02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2.7725E-02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2.9813E-02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2.6408E-02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3.2276E-02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extLst>
                  <a:ext uri="{0D108BD9-81ED-4DB2-BD59-A6C34878D82A}">
                    <a16:rowId xmlns:a16="http://schemas.microsoft.com/office/drawing/2014/main" val="1946326656"/>
                  </a:ext>
                </a:extLst>
              </a:tr>
              <a:tr h="31876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Large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1.7370E-02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1.3446E-02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1.4427E-02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1.3053E-02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1.6328E-02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9910" marR="59910" marT="0" marB="0" anchor="b"/>
                </a:tc>
                <a:extLst>
                  <a:ext uri="{0D108BD9-81ED-4DB2-BD59-A6C34878D82A}">
                    <a16:rowId xmlns:a16="http://schemas.microsoft.com/office/drawing/2014/main" val="1254736222"/>
                  </a:ext>
                </a:extLst>
              </a:tr>
            </a:tbl>
          </a:graphicData>
        </a:graphic>
      </p:graphicFrame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A90058-69FB-6EA6-84DB-D54B8D96A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EAE8460-CA14-1304-F776-F70D9A1E5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5909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926AB-44E4-DD2E-829A-24D214A49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altLang="zh-TW" sz="3200" u="none" strike="noStrike" cap="none" normalizeH="0" baseline="0" dirty="0">
                <a:ln>
                  <a:noFill/>
                </a:ln>
                <a:effectLst/>
                <a:latin typeface="+mn-lt"/>
                <a:ea typeface="PMingLiU" panose="02020500000000000000" pitchFamily="18" charset="-120"/>
                <a:cs typeface="Calibri" panose="020F0502020204030204" pitchFamily="34" charset="0"/>
              </a:rPr>
              <a:t>Simulation results for Disease 1 (prevalence =25.5%) when Gene 1 is observable 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16382-BC40-57CF-6F26-8611B5D77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Logistic regression with weights has lower bias and high confidence coverage </a:t>
            </a:r>
          </a:p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Logistic, Logistic GREG and ANN methods have good coverage </a:t>
            </a:r>
          </a:p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ANN outperforms all other methods </a:t>
            </a:r>
          </a:p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Direct method consistently underperforms due to its lack of covariate information</a:t>
            </a:r>
            <a:endParaRPr lang="en-US" sz="2400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08AFC9-7100-5975-2740-D436F952D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6DB53-1FA6-0671-A91E-567D47E3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0297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C8391-A0E5-760B-2646-FAFF1ACDC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665" y="513003"/>
            <a:ext cx="3418659" cy="5583148"/>
          </a:xfrm>
        </p:spPr>
        <p:txBody>
          <a:bodyPr anchor="ctr"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kumimoji="0" lang="en-US" altLang="zh-TW" sz="3200" b="0" i="1" u="none" strike="noStrike" cap="none" normalizeH="0" baseline="0" dirty="0">
                <a:ln>
                  <a:noFill/>
                </a:ln>
                <a:effectLst/>
                <a:latin typeface="+mn-lt"/>
                <a:ea typeface="PMingLiU" panose="02020500000000000000" pitchFamily="18" charset="-120"/>
                <a:cs typeface="Calibri" panose="020F0502020204030204" pitchFamily="34" charset="0"/>
              </a:rPr>
              <a:t>Table 4  Simulation results for Disease 1 (prevalence =</a:t>
            </a:r>
            <a:r>
              <a:rPr kumimoji="0" lang="en-US" altLang="zh-TW" sz="3200" b="0" i="0" u="none" strike="noStrike" cap="none" normalizeH="0" baseline="0" dirty="0">
                <a:ln>
                  <a:noFill/>
                </a:ln>
                <a:effectLst/>
                <a:latin typeface="+mn-lt"/>
                <a:ea typeface="PMingLiU" panose="02020500000000000000" pitchFamily="18" charset="-120"/>
                <a:cs typeface="Calibri" panose="020F0502020204030204" pitchFamily="34" charset="0"/>
              </a:rPr>
              <a:t>25.5%) </a:t>
            </a:r>
            <a:r>
              <a:rPr kumimoji="0" lang="en-US" altLang="zh-TW" sz="3200" b="0" i="1" u="none" strike="noStrike" cap="none" normalizeH="0" baseline="0" dirty="0">
                <a:ln>
                  <a:noFill/>
                </a:ln>
                <a:effectLst/>
                <a:latin typeface="+mn-lt"/>
                <a:ea typeface="PMingLiU" panose="02020500000000000000" pitchFamily="18" charset="-120"/>
                <a:cs typeface="Calibri" panose="020F0502020204030204" pitchFamily="34" charset="0"/>
              </a:rPr>
              <a:t>when Gene 1 is not observable</a:t>
            </a:r>
            <a:r>
              <a:rPr kumimoji="0" lang="en-US" altLang="zh-TW" sz="3200" b="0" i="0" u="none" strike="noStrike" cap="none" normalizeH="0" baseline="0" dirty="0">
                <a:ln>
                  <a:noFill/>
                </a:ln>
                <a:effectLst/>
                <a:latin typeface="+mn-lt"/>
                <a:ea typeface="PMingLiU" panose="02020500000000000000" pitchFamily="18" charset="-120"/>
                <a:cs typeface="Calibri" panose="020F0502020204030204" pitchFamily="34" charset="0"/>
              </a:rPr>
              <a:t> </a:t>
            </a:r>
            <a:endParaRPr kumimoji="0" lang="en-US" altLang="zh-TW" sz="32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931F55-5481-02F7-C0B9-48C1FA2AEB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8407588"/>
              </p:ext>
            </p:extLst>
          </p:nvPr>
        </p:nvGraphicFramePr>
        <p:xfrm>
          <a:off x="4729316" y="304800"/>
          <a:ext cx="6642531" cy="5516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8259">
                  <a:extLst>
                    <a:ext uri="{9D8B030D-6E8A-4147-A177-3AD203B41FA5}">
                      <a16:colId xmlns:a16="http://schemas.microsoft.com/office/drawing/2014/main" val="2986153372"/>
                    </a:ext>
                  </a:extLst>
                </a:gridCol>
                <a:gridCol w="1360224">
                  <a:extLst>
                    <a:ext uri="{9D8B030D-6E8A-4147-A177-3AD203B41FA5}">
                      <a16:colId xmlns:a16="http://schemas.microsoft.com/office/drawing/2014/main" val="429645202"/>
                    </a:ext>
                  </a:extLst>
                </a:gridCol>
                <a:gridCol w="579989">
                  <a:extLst>
                    <a:ext uri="{9D8B030D-6E8A-4147-A177-3AD203B41FA5}">
                      <a16:colId xmlns:a16="http://schemas.microsoft.com/office/drawing/2014/main" val="3033443848"/>
                    </a:ext>
                  </a:extLst>
                </a:gridCol>
                <a:gridCol w="483166">
                  <a:extLst>
                    <a:ext uri="{9D8B030D-6E8A-4147-A177-3AD203B41FA5}">
                      <a16:colId xmlns:a16="http://schemas.microsoft.com/office/drawing/2014/main" val="3776141525"/>
                    </a:ext>
                  </a:extLst>
                </a:gridCol>
                <a:gridCol w="879331">
                  <a:extLst>
                    <a:ext uri="{9D8B030D-6E8A-4147-A177-3AD203B41FA5}">
                      <a16:colId xmlns:a16="http://schemas.microsoft.com/office/drawing/2014/main" val="1625088023"/>
                    </a:ext>
                  </a:extLst>
                </a:gridCol>
                <a:gridCol w="315254">
                  <a:extLst>
                    <a:ext uri="{9D8B030D-6E8A-4147-A177-3AD203B41FA5}">
                      <a16:colId xmlns:a16="http://schemas.microsoft.com/office/drawing/2014/main" val="1938128533"/>
                    </a:ext>
                  </a:extLst>
                </a:gridCol>
                <a:gridCol w="813615">
                  <a:extLst>
                    <a:ext uri="{9D8B030D-6E8A-4147-A177-3AD203B41FA5}">
                      <a16:colId xmlns:a16="http://schemas.microsoft.com/office/drawing/2014/main" val="93552035"/>
                    </a:ext>
                  </a:extLst>
                </a:gridCol>
                <a:gridCol w="249539">
                  <a:extLst>
                    <a:ext uri="{9D8B030D-6E8A-4147-A177-3AD203B41FA5}">
                      <a16:colId xmlns:a16="http://schemas.microsoft.com/office/drawing/2014/main" val="1152208826"/>
                    </a:ext>
                  </a:extLst>
                </a:gridCol>
                <a:gridCol w="1063154">
                  <a:extLst>
                    <a:ext uri="{9D8B030D-6E8A-4147-A177-3AD203B41FA5}">
                      <a16:colId xmlns:a16="http://schemas.microsoft.com/office/drawing/2014/main" val="769678694"/>
                    </a:ext>
                  </a:extLst>
                </a:gridCol>
              </a:tblGrid>
              <a:tr h="49531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 Stats/Size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Direct method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Logistic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Logistic GREG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ANN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4445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ANN DIFF 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extLst>
                  <a:ext uri="{0D108BD9-81ED-4DB2-BD59-A6C34878D82A}">
                    <a16:rowId xmlns:a16="http://schemas.microsoft.com/office/drawing/2014/main" val="1712329355"/>
                  </a:ext>
                </a:extLst>
              </a:tr>
              <a:tr h="29909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Bias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extLst>
                  <a:ext uri="{0D108BD9-81ED-4DB2-BD59-A6C34878D82A}">
                    <a16:rowId xmlns:a16="http://schemas.microsoft.com/office/drawing/2014/main" val="255603909"/>
                  </a:ext>
                </a:extLst>
              </a:tr>
              <a:tr h="49531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Small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-1.111E-02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7.5651E-04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9.8906E-04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3.5398E-03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-1.8284E-04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extLst>
                  <a:ext uri="{0D108BD9-81ED-4DB2-BD59-A6C34878D82A}">
                    <a16:rowId xmlns:a16="http://schemas.microsoft.com/office/drawing/2014/main" val="4087201656"/>
                  </a:ext>
                </a:extLst>
              </a:tr>
              <a:tr h="31293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Medium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-1.144E-02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4.1462E-05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3.3816E-04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2.2179E-04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7.5634E-03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extLst>
                  <a:ext uri="{0D108BD9-81ED-4DB2-BD59-A6C34878D82A}">
                    <a16:rowId xmlns:a16="http://schemas.microsoft.com/office/drawing/2014/main" val="2722561896"/>
                  </a:ext>
                </a:extLst>
              </a:tr>
              <a:tr h="32446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Large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-1.129E-02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-4.3237E-04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-5.5760E-04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-9.8202E-04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7.0456E-03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extLst>
                  <a:ext uri="{0D108BD9-81ED-4DB2-BD59-A6C34878D82A}">
                    <a16:rowId xmlns:a16="http://schemas.microsoft.com/office/drawing/2014/main" val="3176098956"/>
                  </a:ext>
                </a:extLst>
              </a:tr>
              <a:tr h="29909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RMSE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extLst>
                  <a:ext uri="{0D108BD9-81ED-4DB2-BD59-A6C34878D82A}">
                    <a16:rowId xmlns:a16="http://schemas.microsoft.com/office/drawing/2014/main" val="1804903145"/>
                  </a:ext>
                </a:extLst>
              </a:tr>
              <a:tr h="29909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Small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5.5340E-04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2.7290E-04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3.1484E-04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2.3881E-04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5.0142E-04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extLst>
                  <a:ext uri="{0D108BD9-81ED-4DB2-BD59-A6C34878D82A}">
                    <a16:rowId xmlns:a16="http://schemas.microsoft.com/office/drawing/2014/main" val="232601829"/>
                  </a:ext>
                </a:extLst>
              </a:tr>
              <a:tr h="29909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Medium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2.1451E-04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5.1715E-05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5.8937E-05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5.0510E-05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2.1699E-04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extLst>
                  <a:ext uri="{0D108BD9-81ED-4DB2-BD59-A6C34878D82A}">
                    <a16:rowId xmlns:a16="http://schemas.microsoft.com/office/drawing/2014/main" val="180925563"/>
                  </a:ext>
                </a:extLst>
              </a:tr>
              <a:tr h="29909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Large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1.4720E-04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1.3017E-05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1.5120E-05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1.6100E-05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1.4346E-04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extLst>
                  <a:ext uri="{0D108BD9-81ED-4DB2-BD59-A6C34878D82A}">
                    <a16:rowId xmlns:a16="http://schemas.microsoft.com/office/drawing/2014/main" val="2662768807"/>
                  </a:ext>
                </a:extLst>
              </a:tr>
              <a:tr h="299091"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CI coverage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189056"/>
                  </a:ext>
                </a:extLst>
              </a:tr>
              <a:tr h="29909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Small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8.9900E-01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9.4400E-01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9.4700E-01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9.4300E-01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8.2200E-01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extLst>
                  <a:ext uri="{0D108BD9-81ED-4DB2-BD59-A6C34878D82A}">
                    <a16:rowId xmlns:a16="http://schemas.microsoft.com/office/drawing/2014/main" val="4241675914"/>
                  </a:ext>
                </a:extLst>
              </a:tr>
              <a:tr h="29909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Medium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7.5500E-01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9.5300E-01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9.5100E-01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9.3500E-01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7.5900E-01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extLst>
                  <a:ext uri="{0D108BD9-81ED-4DB2-BD59-A6C34878D82A}">
                    <a16:rowId xmlns:a16="http://schemas.microsoft.com/office/drawing/2014/main" val="396720570"/>
                  </a:ext>
                </a:extLst>
              </a:tr>
              <a:tr h="29909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Large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2.9400E-01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9.5100E-01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9.4700E-01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9.0800E-01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5.0400E-01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extLst>
                  <a:ext uri="{0D108BD9-81ED-4DB2-BD59-A6C34878D82A}">
                    <a16:rowId xmlns:a16="http://schemas.microsoft.com/office/drawing/2014/main" val="2208499931"/>
                  </a:ext>
                </a:extLst>
              </a:tr>
              <a:tr h="299091"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CI  average width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032099"/>
                  </a:ext>
                </a:extLst>
              </a:tr>
              <a:tr h="29909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Small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8.0044E-02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6.3177E-02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6.8816E-02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5.7776E-02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6.0451E-02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extLst>
                  <a:ext uri="{0D108BD9-81ED-4DB2-BD59-A6C34878D82A}">
                    <a16:rowId xmlns:a16="http://schemas.microsoft.com/office/drawing/2014/main" val="2549338760"/>
                  </a:ext>
                </a:extLst>
              </a:tr>
              <a:tr h="29909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Medium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3.5797E-02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2.8286E-02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3.0404E-02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2.6648E-02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3.3365E-02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extLst>
                  <a:ext uri="{0D108BD9-81ED-4DB2-BD59-A6C34878D82A}">
                    <a16:rowId xmlns:a16="http://schemas.microsoft.com/office/drawing/2014/main" val="408989452"/>
                  </a:ext>
                </a:extLst>
              </a:tr>
              <a:tr h="29909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Large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1.7370E-02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1.3709E-02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1.4703E-02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1.3119E-02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1.6686E-02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14393" marR="14393" marT="0" marB="0" anchor="b"/>
                </a:tc>
                <a:extLst>
                  <a:ext uri="{0D108BD9-81ED-4DB2-BD59-A6C34878D82A}">
                    <a16:rowId xmlns:a16="http://schemas.microsoft.com/office/drawing/2014/main" val="2932550040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AB15B-A99F-EED0-33E4-0B960319E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5D7745-6712-8095-3C71-2FC5F96D9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5432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C7725-1232-20C6-DB41-BB45DA43A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altLang="zh-TW" sz="3200" b="0" u="none" strike="noStrike" cap="none" normalizeH="0" baseline="0" dirty="0">
                <a:ln>
                  <a:noFill/>
                </a:ln>
                <a:effectLst/>
                <a:latin typeface="+mn-lt"/>
                <a:ea typeface="PMingLiU" panose="02020500000000000000" pitchFamily="18" charset="-120"/>
                <a:cs typeface="Calibri" panose="020F0502020204030204" pitchFamily="34" charset="0"/>
              </a:rPr>
              <a:t>Simulation results for Disease 1 (prevalence =25.5%) when Gene 1 is not observable 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522EC-AA17-37F3-93D6-152961169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Logistic, Logistic GREG, ANN, and ANN DIFF outperform Direct method in all aspects</a:t>
            </a:r>
          </a:p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Logistic has best results for large samples, while ANN has more negligible bias for medium and large sample sizes </a:t>
            </a:r>
          </a:p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ANN has narrowest CI widths and satisfactory CI coverage, making it an excellent option for interval estimation</a:t>
            </a:r>
            <a:endParaRPr lang="en-US" sz="2400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38D44B-CAC9-C62A-F01F-6B1A97C80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8F502-FC60-A974-9CBF-4C38B45E2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0819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C1EF4-EA75-3460-CE96-BF21261D9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kumimoji="0" lang="en-US" altLang="zh-TW" sz="3200" b="0" i="1" u="none" strike="noStrike" cap="none" normalizeH="0" baseline="0" dirty="0">
                <a:ln>
                  <a:noFill/>
                </a:ln>
                <a:effectLst/>
                <a:latin typeface="+mn-lt"/>
                <a:ea typeface="PMingLiU" panose="02020500000000000000" pitchFamily="18" charset="-120"/>
                <a:cs typeface="Calibri" panose="020F0502020204030204" pitchFamily="34" charset="0"/>
              </a:rPr>
              <a:t>Table 5  Simulation results for Disease 2 (prevalence =</a:t>
            </a:r>
            <a:r>
              <a:rPr kumimoji="0" lang="en-US" altLang="zh-TW" sz="3200" b="0" i="0" u="none" strike="noStrike" cap="none" normalizeH="0" baseline="0" dirty="0">
                <a:ln>
                  <a:noFill/>
                </a:ln>
                <a:effectLst/>
                <a:latin typeface="+mn-lt"/>
                <a:ea typeface="PMingLiU" panose="02020500000000000000" pitchFamily="18" charset="-120"/>
                <a:cs typeface="Calibri" panose="020F0502020204030204" pitchFamily="34" charset="0"/>
              </a:rPr>
              <a:t>36.8%) </a:t>
            </a:r>
            <a:r>
              <a:rPr kumimoji="0" lang="en-US" altLang="zh-TW" sz="3200" b="0" i="1" u="none" strike="noStrike" cap="none" normalizeH="0" baseline="0" dirty="0">
                <a:ln>
                  <a:noFill/>
                </a:ln>
                <a:effectLst/>
                <a:latin typeface="+mn-lt"/>
                <a:ea typeface="PMingLiU" panose="02020500000000000000" pitchFamily="18" charset="-120"/>
                <a:cs typeface="Calibri" panose="020F0502020204030204" pitchFamily="34" charset="0"/>
              </a:rPr>
              <a:t>when Gene 2</a:t>
            </a:r>
            <a:r>
              <a:rPr kumimoji="0" lang="en-US" altLang="zh-TW" sz="3200" b="0" i="0" u="none" strike="noStrike" cap="none" normalizeH="0" baseline="0" dirty="0">
                <a:ln>
                  <a:noFill/>
                </a:ln>
                <a:effectLst/>
                <a:latin typeface="+mn-lt"/>
                <a:ea typeface="PMingLiU" panose="02020500000000000000" pitchFamily="18" charset="-120"/>
                <a:cs typeface="Calibri" panose="020F0502020204030204" pitchFamily="34" charset="0"/>
              </a:rPr>
              <a:t> </a:t>
            </a:r>
            <a:r>
              <a:rPr kumimoji="0" lang="en-US" altLang="zh-TW" sz="3200" b="0" i="1" u="none" strike="noStrike" cap="none" normalizeH="0" baseline="0" dirty="0">
                <a:ln>
                  <a:noFill/>
                </a:ln>
                <a:effectLst/>
                <a:latin typeface="+mn-lt"/>
                <a:ea typeface="PMingLiU" panose="02020500000000000000" pitchFamily="18" charset="-120"/>
                <a:cs typeface="Calibri" panose="020F0502020204030204" pitchFamily="34" charset="0"/>
              </a:rPr>
              <a:t>is observable</a:t>
            </a:r>
            <a:endParaRPr kumimoji="0" lang="en-US" altLang="zh-TW" sz="32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eaLnBrk="0" fontAlgn="base" hangingPunct="0">
              <a:spcAft>
                <a:spcPct val="0"/>
              </a:spcAft>
            </a:pPr>
            <a:endParaRPr kumimoji="0" lang="en-US" altLang="zh-TW" sz="24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6D6C8F-2B3D-AF4B-1864-C0FBB252B6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3573508"/>
              </p:ext>
            </p:extLst>
          </p:nvPr>
        </p:nvGraphicFramePr>
        <p:xfrm>
          <a:off x="4552335" y="255640"/>
          <a:ext cx="6996199" cy="5583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1257">
                  <a:extLst>
                    <a:ext uri="{9D8B030D-6E8A-4147-A177-3AD203B41FA5}">
                      <a16:colId xmlns:a16="http://schemas.microsoft.com/office/drawing/2014/main" val="4207939755"/>
                    </a:ext>
                  </a:extLst>
                </a:gridCol>
                <a:gridCol w="885083">
                  <a:extLst>
                    <a:ext uri="{9D8B030D-6E8A-4147-A177-3AD203B41FA5}">
                      <a16:colId xmlns:a16="http://schemas.microsoft.com/office/drawing/2014/main" val="3367406810"/>
                    </a:ext>
                  </a:extLst>
                </a:gridCol>
                <a:gridCol w="541001">
                  <a:extLst>
                    <a:ext uri="{9D8B030D-6E8A-4147-A177-3AD203B41FA5}">
                      <a16:colId xmlns:a16="http://schemas.microsoft.com/office/drawing/2014/main" val="604397216"/>
                    </a:ext>
                  </a:extLst>
                </a:gridCol>
                <a:gridCol w="590111">
                  <a:extLst>
                    <a:ext uri="{9D8B030D-6E8A-4147-A177-3AD203B41FA5}">
                      <a16:colId xmlns:a16="http://schemas.microsoft.com/office/drawing/2014/main" val="3185615669"/>
                    </a:ext>
                  </a:extLst>
                </a:gridCol>
                <a:gridCol w="395579">
                  <a:extLst>
                    <a:ext uri="{9D8B030D-6E8A-4147-A177-3AD203B41FA5}">
                      <a16:colId xmlns:a16="http://schemas.microsoft.com/office/drawing/2014/main" val="2511241730"/>
                    </a:ext>
                  </a:extLst>
                </a:gridCol>
                <a:gridCol w="990236">
                  <a:extLst>
                    <a:ext uri="{9D8B030D-6E8A-4147-A177-3AD203B41FA5}">
                      <a16:colId xmlns:a16="http://schemas.microsoft.com/office/drawing/2014/main" val="4092226385"/>
                    </a:ext>
                  </a:extLst>
                </a:gridCol>
                <a:gridCol w="364126">
                  <a:extLst>
                    <a:ext uri="{9D8B030D-6E8A-4147-A177-3AD203B41FA5}">
                      <a16:colId xmlns:a16="http://schemas.microsoft.com/office/drawing/2014/main" val="144024493"/>
                    </a:ext>
                  </a:extLst>
                </a:gridCol>
                <a:gridCol w="780682">
                  <a:extLst>
                    <a:ext uri="{9D8B030D-6E8A-4147-A177-3AD203B41FA5}">
                      <a16:colId xmlns:a16="http://schemas.microsoft.com/office/drawing/2014/main" val="955340552"/>
                    </a:ext>
                  </a:extLst>
                </a:gridCol>
                <a:gridCol w="154571">
                  <a:extLst>
                    <a:ext uri="{9D8B030D-6E8A-4147-A177-3AD203B41FA5}">
                      <a16:colId xmlns:a16="http://schemas.microsoft.com/office/drawing/2014/main" val="145577343"/>
                    </a:ext>
                  </a:extLst>
                </a:gridCol>
                <a:gridCol w="1053553">
                  <a:extLst>
                    <a:ext uri="{9D8B030D-6E8A-4147-A177-3AD203B41FA5}">
                      <a16:colId xmlns:a16="http://schemas.microsoft.com/office/drawing/2014/main" val="2760868637"/>
                    </a:ext>
                  </a:extLst>
                </a:gridCol>
              </a:tblGrid>
              <a:tr h="54399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          Stats/Size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b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</a:endParaRPr>
                    </a:p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Direct method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</a:endParaRPr>
                    </a:p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Logistic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</a:endParaRPr>
                    </a:p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Logistic GREG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</a:endParaRPr>
                    </a:p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ANN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</a:endParaRPr>
                    </a:p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ANN DIFF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extLst>
                  <a:ext uri="{0D108BD9-81ED-4DB2-BD59-A6C34878D82A}">
                    <a16:rowId xmlns:a16="http://schemas.microsoft.com/office/drawing/2014/main" val="1903493477"/>
                  </a:ext>
                </a:extLst>
              </a:tr>
              <a:tr h="24463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Bias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b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extLst>
                  <a:ext uri="{0D108BD9-81ED-4DB2-BD59-A6C34878D82A}">
                    <a16:rowId xmlns:a16="http://schemas.microsoft.com/office/drawing/2014/main" val="1879835492"/>
                  </a:ext>
                </a:extLst>
              </a:tr>
              <a:tr h="33838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Small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1.6911E-02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7.9496E-04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8.5471E-04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7.7306E-04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3.0567E-03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extLst>
                  <a:ext uri="{0D108BD9-81ED-4DB2-BD59-A6C34878D82A}">
                    <a16:rowId xmlns:a16="http://schemas.microsoft.com/office/drawing/2014/main" val="2651138937"/>
                  </a:ext>
                </a:extLst>
              </a:tr>
              <a:tr h="33838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Medium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1.5929E-02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-3.9188E-05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-2.3413E-04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5.1092E-05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5.5706E-04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extLst>
                  <a:ext uri="{0D108BD9-81ED-4DB2-BD59-A6C34878D82A}">
                    <a16:rowId xmlns:a16="http://schemas.microsoft.com/office/drawing/2014/main" val="553681815"/>
                  </a:ext>
                </a:extLst>
              </a:tr>
              <a:tr h="33838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Large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1.6343E-02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4.3509E-05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-6.2300E-05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7.6896E-05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2.5517E-04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extLst>
                  <a:ext uri="{0D108BD9-81ED-4DB2-BD59-A6C34878D82A}">
                    <a16:rowId xmlns:a16="http://schemas.microsoft.com/office/drawing/2014/main" val="1764594936"/>
                  </a:ext>
                </a:extLst>
              </a:tr>
              <a:tr h="24463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RMSE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b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extLst>
                  <a:ext uri="{0D108BD9-81ED-4DB2-BD59-A6C34878D82A}">
                    <a16:rowId xmlns:a16="http://schemas.microsoft.com/office/drawing/2014/main" val="1906961879"/>
                  </a:ext>
                </a:extLst>
              </a:tr>
              <a:tr h="33838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Small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8.7899E-04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3.3126E-04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3.9027E-04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3.2410E-04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5.0131E-04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extLst>
                  <a:ext uri="{0D108BD9-81ED-4DB2-BD59-A6C34878D82A}">
                    <a16:rowId xmlns:a16="http://schemas.microsoft.com/office/drawing/2014/main" val="250754998"/>
                  </a:ext>
                </a:extLst>
              </a:tr>
              <a:tr h="33838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Medium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3.6400E-04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6.3095E-05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7.1073E-05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6.3118E-05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8.6753E-05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extLst>
                  <a:ext uri="{0D108BD9-81ED-4DB2-BD59-A6C34878D82A}">
                    <a16:rowId xmlns:a16="http://schemas.microsoft.com/office/drawing/2014/main" val="1283607296"/>
                  </a:ext>
                </a:extLst>
              </a:tr>
              <a:tr h="33838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Large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2.9279E-04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1.4427E-05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1.6526E-05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1.4419E-05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2.7453E-05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extLst>
                  <a:ext uri="{0D108BD9-81ED-4DB2-BD59-A6C34878D82A}">
                    <a16:rowId xmlns:a16="http://schemas.microsoft.com/office/drawing/2014/main" val="687386069"/>
                  </a:ext>
                </a:extLst>
              </a:tr>
              <a:tr h="24463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CI coverage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646675"/>
                  </a:ext>
                </a:extLst>
              </a:tr>
              <a:tr h="33838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Small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8.9000E-01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9.3300E-01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9.4300E-01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9.1800E-01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8.8200E-01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extLst>
                  <a:ext uri="{0D108BD9-81ED-4DB2-BD59-A6C34878D82A}">
                    <a16:rowId xmlns:a16="http://schemas.microsoft.com/office/drawing/2014/main" val="3295502719"/>
                  </a:ext>
                </a:extLst>
              </a:tr>
              <a:tr h="33838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Medium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6.6400E-01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9.5300E-01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9.5500E-01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9.3900E-01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9.6000E-01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extLst>
                  <a:ext uri="{0D108BD9-81ED-4DB2-BD59-A6C34878D82A}">
                    <a16:rowId xmlns:a16="http://schemas.microsoft.com/office/drawing/2014/main" val="2900860654"/>
                  </a:ext>
                </a:extLst>
              </a:tr>
              <a:tr h="33838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Large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1.1000E-01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9.4400E-01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9.5000E-01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9.3900E-01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9.6200E-01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extLst>
                  <a:ext uri="{0D108BD9-81ED-4DB2-BD59-A6C34878D82A}">
                    <a16:rowId xmlns:a16="http://schemas.microsoft.com/office/drawing/2014/main" val="490587188"/>
                  </a:ext>
                </a:extLst>
              </a:tr>
              <a:tr h="244631"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CI  average width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53363"/>
                  </a:ext>
                </a:extLst>
              </a:tr>
              <a:tr h="33838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Small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9.2361E-02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6.7941E-02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7.3759E-02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6.2831E-02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6.9600E-02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extLst>
                  <a:ext uri="{0D108BD9-81ED-4DB2-BD59-A6C34878D82A}">
                    <a16:rowId xmlns:a16="http://schemas.microsoft.com/office/drawing/2014/main" val="1732865219"/>
                  </a:ext>
                </a:extLst>
              </a:tr>
              <a:tr h="33838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Medium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4.1275E-02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3.0435E-02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3.2643E-02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2.9268E-02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3.7376E-02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extLst>
                  <a:ext uri="{0D108BD9-81ED-4DB2-BD59-A6C34878D82A}">
                    <a16:rowId xmlns:a16="http://schemas.microsoft.com/office/drawing/2014/main" val="1137050021"/>
                  </a:ext>
                </a:extLst>
              </a:tr>
              <a:tr h="33838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Large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2.0026E-02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1.4767E-02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1.5812E-02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1.4480E-02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1.8762E-02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23782" marR="23782" marT="0" marB="0" anchor="ctr"/>
                </a:tc>
                <a:extLst>
                  <a:ext uri="{0D108BD9-81ED-4DB2-BD59-A6C34878D82A}">
                    <a16:rowId xmlns:a16="http://schemas.microsoft.com/office/drawing/2014/main" val="686415787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A2D34-E573-F542-EABE-BF334C9B3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E9ADA-830C-752B-DB8D-BF760AC50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5857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8915-8505-ABC3-427D-52B83FCBD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altLang="zh-TW" sz="3200" b="0" u="none" strike="noStrike" cap="none" normalizeH="0" baseline="0" dirty="0">
                <a:ln>
                  <a:noFill/>
                </a:ln>
                <a:effectLst/>
                <a:latin typeface="+mn-lt"/>
                <a:ea typeface="PMingLiU" panose="02020500000000000000" pitchFamily="18" charset="-120"/>
                <a:cs typeface="Calibri" panose="020F0502020204030204" pitchFamily="34" charset="0"/>
              </a:rPr>
              <a:t>Simulation results for Disease 2 (prevalence =36.8%) when Gene 2 is observable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89D0D-26C4-B8D8-22D8-CDE196D1F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Table 5 shows better biases and RMSEs than Table 3 </a:t>
            </a:r>
          </a:p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Table 5 has wider CIs due to higher prevalence rate </a:t>
            </a:r>
          </a:p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Higher prevalence rate leads to higher standard errors </a:t>
            </a:r>
          </a:p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Similar conclusion to Table 3</a:t>
            </a:r>
            <a:endParaRPr lang="en-US" sz="2400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38A44C-B0C1-7112-B803-D77DC2D91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A26B0C-1A35-04C4-D569-011F02B10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3175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302A4-D8E1-263D-8E26-E8F8BFC1D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en-US" altLang="zh-TW" sz="3200" i="1" dirty="0">
                <a:latin typeface="+mn-lt"/>
                <a:ea typeface="PMingLiU" panose="02020500000000000000" pitchFamily="18" charset="-120"/>
                <a:cs typeface="Calibri" panose="020F0502020204030204" pitchFamily="34" charset="0"/>
              </a:rPr>
              <a:t>Table 6 Simulation results for Disease2 (prevalence= </a:t>
            </a:r>
            <a:r>
              <a:rPr lang="en-US" altLang="zh-TW" sz="3200" dirty="0">
                <a:latin typeface="+mn-lt"/>
                <a:ea typeface="PMingLiU" panose="02020500000000000000" pitchFamily="18" charset="-120"/>
                <a:cs typeface="Calibri" panose="020F0502020204030204" pitchFamily="34" charset="0"/>
              </a:rPr>
              <a:t>36.8%)</a:t>
            </a:r>
            <a:r>
              <a:rPr lang="en-US" altLang="zh-TW" sz="3200" i="1" dirty="0">
                <a:latin typeface="+mn-lt"/>
                <a:ea typeface="PMingLiU" panose="02020500000000000000" pitchFamily="18" charset="-120"/>
                <a:cs typeface="Calibri" panose="020F0502020204030204" pitchFamily="34" charset="0"/>
              </a:rPr>
              <a:t> when Gene 2 is not observable</a:t>
            </a:r>
            <a:r>
              <a:rPr lang="en-US" altLang="zh-TW" sz="3200" dirty="0">
                <a:latin typeface="+mn-lt"/>
                <a:ea typeface="PMingLiU" panose="02020500000000000000" pitchFamily="18" charset="-120"/>
                <a:cs typeface="Calibri" panose="020F0502020204030204" pitchFamily="34" charset="0"/>
              </a:rPr>
              <a:t>  </a:t>
            </a:r>
            <a:endParaRPr lang="en-US" altLang="zh-TW" sz="3200" dirty="0">
              <a:latin typeface="+mn-lt"/>
            </a:endParaRPr>
          </a:p>
          <a:p>
            <a:pPr eaLnBrk="0" fontAlgn="base" hangingPunct="0">
              <a:spcAft>
                <a:spcPct val="0"/>
              </a:spcAft>
            </a:pPr>
            <a:endParaRPr lang="en-US" altLang="zh-TW" sz="2400" dirty="0"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9CFCD87-57D0-6E9F-0860-92327E88BE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7385133"/>
              </p:ext>
            </p:extLst>
          </p:nvPr>
        </p:nvGraphicFramePr>
        <p:xfrm>
          <a:off x="4198374" y="744827"/>
          <a:ext cx="7358625" cy="5368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803">
                  <a:extLst>
                    <a:ext uri="{9D8B030D-6E8A-4147-A177-3AD203B41FA5}">
                      <a16:colId xmlns:a16="http://schemas.microsoft.com/office/drawing/2014/main" val="270284338"/>
                    </a:ext>
                  </a:extLst>
                </a:gridCol>
                <a:gridCol w="1573134">
                  <a:extLst>
                    <a:ext uri="{9D8B030D-6E8A-4147-A177-3AD203B41FA5}">
                      <a16:colId xmlns:a16="http://schemas.microsoft.com/office/drawing/2014/main" val="118661605"/>
                    </a:ext>
                  </a:extLst>
                </a:gridCol>
                <a:gridCol w="1111992">
                  <a:extLst>
                    <a:ext uri="{9D8B030D-6E8A-4147-A177-3AD203B41FA5}">
                      <a16:colId xmlns:a16="http://schemas.microsoft.com/office/drawing/2014/main" val="44957089"/>
                    </a:ext>
                  </a:extLst>
                </a:gridCol>
                <a:gridCol w="1432202">
                  <a:extLst>
                    <a:ext uri="{9D8B030D-6E8A-4147-A177-3AD203B41FA5}">
                      <a16:colId xmlns:a16="http://schemas.microsoft.com/office/drawing/2014/main" val="3567571748"/>
                    </a:ext>
                  </a:extLst>
                </a:gridCol>
                <a:gridCol w="1051944">
                  <a:extLst>
                    <a:ext uri="{9D8B030D-6E8A-4147-A177-3AD203B41FA5}">
                      <a16:colId xmlns:a16="http://schemas.microsoft.com/office/drawing/2014/main" val="4052138708"/>
                    </a:ext>
                  </a:extLst>
                </a:gridCol>
                <a:gridCol w="1177550">
                  <a:extLst>
                    <a:ext uri="{9D8B030D-6E8A-4147-A177-3AD203B41FA5}">
                      <a16:colId xmlns:a16="http://schemas.microsoft.com/office/drawing/2014/main" val="3735636870"/>
                    </a:ext>
                  </a:extLst>
                </a:gridCol>
              </a:tblGrid>
              <a:tr h="5861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Stats/Size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Direct method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Logistic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Logistic GREG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ANN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ANN DIFF 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extLst>
                  <a:ext uri="{0D108BD9-81ED-4DB2-BD59-A6C34878D82A}">
                    <a16:rowId xmlns:a16="http://schemas.microsoft.com/office/drawing/2014/main" val="2968521628"/>
                  </a:ext>
                </a:extLst>
              </a:tr>
              <a:tr h="26747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Bias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extLst>
                  <a:ext uri="{0D108BD9-81ED-4DB2-BD59-A6C34878D82A}">
                    <a16:rowId xmlns:a16="http://schemas.microsoft.com/office/drawing/2014/main" val="3754420456"/>
                  </a:ext>
                </a:extLst>
              </a:tr>
              <a:tr h="49776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Small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1.6911E-02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6.2633E-04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6.2365E-04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-1.3555E-03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1.9023E-03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extLst>
                  <a:ext uri="{0D108BD9-81ED-4DB2-BD59-A6C34878D82A}">
                    <a16:rowId xmlns:a16="http://schemas.microsoft.com/office/drawing/2014/main" val="1528629687"/>
                  </a:ext>
                </a:extLst>
              </a:tr>
              <a:tr h="43544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Medium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1.5929E-02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-2.2823E-05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-2.6748E-04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-2.4673E-05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3.0304E-04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extLst>
                  <a:ext uri="{0D108BD9-81ED-4DB2-BD59-A6C34878D82A}">
                    <a16:rowId xmlns:a16="http://schemas.microsoft.com/office/drawing/2014/main" val="550190555"/>
                  </a:ext>
                </a:extLst>
              </a:tr>
              <a:tr h="37172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Large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1.6343E-02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3.4194E-05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-1.1945E-04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-9.1609E-04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4.2847E-04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extLst>
                  <a:ext uri="{0D108BD9-81ED-4DB2-BD59-A6C34878D82A}">
                    <a16:rowId xmlns:a16="http://schemas.microsoft.com/office/drawing/2014/main" val="3076545497"/>
                  </a:ext>
                </a:extLst>
              </a:tr>
              <a:tr h="26747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RMSE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extLst>
                  <a:ext uri="{0D108BD9-81ED-4DB2-BD59-A6C34878D82A}">
                    <a16:rowId xmlns:a16="http://schemas.microsoft.com/office/drawing/2014/main" val="3265197371"/>
                  </a:ext>
                </a:extLst>
              </a:tr>
              <a:tr h="26747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Small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8.7899E-04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3.4447E-04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4.0416E-04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3.1792E-04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5.4096E-04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extLst>
                  <a:ext uri="{0D108BD9-81ED-4DB2-BD59-A6C34878D82A}">
                    <a16:rowId xmlns:a16="http://schemas.microsoft.com/office/drawing/2014/main" val="3447562336"/>
                  </a:ext>
                </a:extLst>
              </a:tr>
              <a:tr h="26747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Medium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3.6400E-04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6.5118E-05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7.3336E-05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6.4729E-05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9.8849E-05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extLst>
                  <a:ext uri="{0D108BD9-81ED-4DB2-BD59-A6C34878D82A}">
                    <a16:rowId xmlns:a16="http://schemas.microsoft.com/office/drawing/2014/main" val="1415328728"/>
                  </a:ext>
                </a:extLst>
              </a:tr>
              <a:tr h="26747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Large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2.9279E-04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1.5115E-05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1.7328E-05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2.0432E-05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5.8805E-05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extLst>
                  <a:ext uri="{0D108BD9-81ED-4DB2-BD59-A6C34878D82A}">
                    <a16:rowId xmlns:a16="http://schemas.microsoft.com/office/drawing/2014/main" val="2818205880"/>
                  </a:ext>
                </a:extLst>
              </a:tr>
              <a:tr h="267479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CI coverage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extLst>
                  <a:ext uri="{0D108BD9-81ED-4DB2-BD59-A6C34878D82A}">
                    <a16:rowId xmlns:a16="http://schemas.microsoft.com/office/drawing/2014/main" val="1287901106"/>
                  </a:ext>
                </a:extLst>
              </a:tr>
              <a:tr h="26747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Small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8.9000E-01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9.3400E-01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9.3700E-01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9.2600E-01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8.8800E-01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extLst>
                  <a:ext uri="{0D108BD9-81ED-4DB2-BD59-A6C34878D82A}">
                    <a16:rowId xmlns:a16="http://schemas.microsoft.com/office/drawing/2014/main" val="1038025631"/>
                  </a:ext>
                </a:extLst>
              </a:tr>
              <a:tr h="26747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Medium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6.6400E-01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9.4500E-01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9.5100E-01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9.4300E-01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9.4300E-01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extLst>
                  <a:ext uri="{0D108BD9-81ED-4DB2-BD59-A6C34878D82A}">
                    <a16:rowId xmlns:a16="http://schemas.microsoft.com/office/drawing/2014/main" val="490817874"/>
                  </a:ext>
                </a:extLst>
              </a:tr>
              <a:tr h="26747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Large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1.1000E-01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9.4700E-01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9.4300E-01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8.8400E-01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9.5500E-01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extLst>
                  <a:ext uri="{0D108BD9-81ED-4DB2-BD59-A6C34878D82A}">
                    <a16:rowId xmlns:a16="http://schemas.microsoft.com/office/drawing/2014/main" val="3930673070"/>
                  </a:ext>
                </a:extLst>
              </a:tr>
              <a:tr h="267479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CI average width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b"/>
                </a:tc>
                <a:extLst>
                  <a:ext uri="{0D108BD9-81ED-4DB2-BD59-A6C34878D82A}">
                    <a16:rowId xmlns:a16="http://schemas.microsoft.com/office/drawing/2014/main" val="3591461448"/>
                  </a:ext>
                </a:extLst>
              </a:tr>
              <a:tr h="26747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Small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9.2361E-02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6.9454E-02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7.5221E-02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6.3843E-02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7.4230E-02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extLst>
                  <a:ext uri="{0D108BD9-81ED-4DB2-BD59-A6C34878D82A}">
                    <a16:rowId xmlns:a16="http://schemas.microsoft.com/office/drawing/2014/main" val="1927786461"/>
                  </a:ext>
                </a:extLst>
              </a:tr>
              <a:tr h="26747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Medium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4.1275E-02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3.1107E-02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3.3344E-02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3.0168E-02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3.8530E-02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extLst>
                  <a:ext uri="{0D108BD9-81ED-4DB2-BD59-A6C34878D82A}">
                    <a16:rowId xmlns:a16="http://schemas.microsoft.com/office/drawing/2014/main" val="840521359"/>
                  </a:ext>
                </a:extLst>
              </a:tr>
              <a:tr h="26747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Large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2.0026E-02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1.5093E-02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1.6151E-02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1.4597E-02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1.9220E-02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</a:endParaRPr>
                    </a:p>
                  </a:txBody>
                  <a:tcPr marL="57168" marR="57168" marT="0" marB="0" anchor="ctr"/>
                </a:tc>
                <a:extLst>
                  <a:ext uri="{0D108BD9-81ED-4DB2-BD59-A6C34878D82A}">
                    <a16:rowId xmlns:a16="http://schemas.microsoft.com/office/drawing/2014/main" val="3726752426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54A065-3ABE-DA52-9145-6C43C2CEB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4598" y="5748048"/>
            <a:ext cx="4822804" cy="365125"/>
          </a:xfrm>
        </p:spPr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CFC5D-0560-EF61-ADDB-F4D40CAB2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4801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C6439-1435-D2F8-010C-F0D210FB0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latin typeface="+mn-lt"/>
                <a:ea typeface="PMingLiU" panose="02020500000000000000" pitchFamily="18" charset="-120"/>
                <a:cs typeface="Calibri" panose="020F0502020204030204" pitchFamily="34" charset="0"/>
              </a:rPr>
              <a:t>Simulation results for Disease2 (prevalence= 36.8%) when Gene 2 is not observable  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10C75-6434-BB20-A6EC-9C4C0FAFD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Compared to Table 4, Table 6 has better biases and wider CIs </a:t>
            </a:r>
          </a:p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ANN method has best overall performance </a:t>
            </a:r>
          </a:p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Logistics and Logistic GREG have better CI coverages</a:t>
            </a:r>
            <a:endParaRPr lang="en-US" sz="2400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50EC8-DBCB-10B2-790E-15D5EDFD6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34F511-D869-20A8-46A6-FCE64CD3E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3595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C5D43-D6F0-650A-A054-A957CC15E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Observation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DDF82-4177-FE4C-9779-01151AC5C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Direct method performs poorly in all sample sizes for all statistics </a:t>
            </a:r>
          </a:p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Logistic regression is generally good for estimation, Logistic GREG is more robust with better CI coverage when Gene variables are not observed </a:t>
            </a:r>
          </a:p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ANN method generally has smaller bias, RMSE, and CI widths, but smaller coverage than nominal </a:t>
            </a:r>
          </a:p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ANN DIFF usually has larger bias RMSE and CI width as it is more conservative given the  sample design</a:t>
            </a:r>
            <a:endParaRPr lang="en-US" sz="2400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2F8455-0AD2-0CA7-92F2-F9BD7662E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9BAFAD-F8C2-F42B-650B-B4F92FC3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012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33F3A-9E87-132D-254A-34E75199C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Concluding remark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149E9-2962-B520-DE73-CDB27EBE1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Incorporating survey design into machine learning algorithms may be beneficial in estimating population prevalence </a:t>
            </a:r>
          </a:p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ANN models may be more accurate than traditional methods </a:t>
            </a:r>
          </a:p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Logistic regression and GREG methods may provide more reliable confidence intervals </a:t>
            </a:r>
          </a:p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Further research is needed to determine best approach for incorporating survey design into machine learning algorithms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89C85F-586C-88A0-29E1-27B74930F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80ED4A-17E4-3EF9-C2D9-24E45ED2D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1867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33F3A-9E87-132D-254A-34E75199C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Concluding remark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149E9-2962-B520-DE73-CDB27EBE1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Need to assess accuracy of different methods in estimating prevalence </a:t>
            </a:r>
          </a:p>
          <a:p>
            <a:r>
              <a:rPr lang="en-US" sz="2400" b="0" i="0" dirty="0">
                <a:solidFill>
                  <a:srgbClr val="353740"/>
                </a:solidFill>
                <a:effectLst/>
                <a:latin typeface="+mn-lt"/>
              </a:rPr>
              <a:t>Further studies can apply DIFF method on random forest and k nearest neighborhood method and examine if it can estimate population prevalence accurately and whether survey weights are needed</a:t>
            </a:r>
            <a:endParaRPr lang="en-US" sz="2400" dirty="0">
              <a:latin typeface="+mn-lt"/>
            </a:endParaRPr>
          </a:p>
          <a:p>
            <a:pPr marL="0" indent="0">
              <a:buNone/>
            </a:pPr>
            <a:endParaRPr lang="en-US" sz="2400" dirty="0">
              <a:latin typeface="+mn-lt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A0B02-9AD5-E7C3-A50E-8A4C73A63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89F09-58C2-EB44-F942-2CB807B62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2122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2F3E6-9BEB-C06D-4D44-E82219A82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2400" dirty="0">
              <a:latin typeface="+mn-lt"/>
            </a:endParaRPr>
          </a:p>
          <a:p>
            <a:pPr marL="0" indent="0">
              <a:buNone/>
            </a:pPr>
            <a:r>
              <a:rPr lang="en-US" sz="5400" dirty="0">
                <a:latin typeface="+mn-lt"/>
              </a:rPr>
              <a:t>                </a:t>
            </a:r>
            <a:r>
              <a:rPr lang="en-US" sz="8800" dirty="0">
                <a:latin typeface="+mn-lt"/>
              </a:rPr>
              <a:t>Thank you</a:t>
            </a:r>
          </a:p>
          <a:p>
            <a:pPr marL="0" indent="0">
              <a:buNone/>
            </a:pPr>
            <a:endParaRPr lang="en-US" sz="2400" dirty="0">
              <a:latin typeface="+mn-lt"/>
            </a:endParaRPr>
          </a:p>
          <a:p>
            <a:pPr marL="0" indent="0">
              <a:buNone/>
            </a:pPr>
            <a:endParaRPr lang="en-US" sz="2400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526683-00E1-1845-E3C4-15E657F1E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Supriya Ganpule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5DE4C3-C7AC-6CE9-8964-CC40F1DE2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3C8E-7236-4AAF-8219-5FBF0E3903EB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4988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THEME_MODEL" val="{&quot;showLogo&quot;:true,&quot;logoScale&quot;:1,&quot;logoPosition&quot;:&quot;left&quot;,&quot;logoOffset&quot;:0,&quot;showMessage&quot;:true,&quot;showPageNum&quot;:true,&quot;logo&quot;:null,&quot;logo_dark&quot;:null,&quot;showFooterByDefault&quot;:null,&quot;footerMessage&quot;:&quot;©2022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sourcesanspro&quot;,&quot;styleBodyFont&quot;:&quot;sourcesanspro&quot;,&quot;styleWeight&quot;:&quot;light&quot;,&quot;styleTitleSlide&quot;:&quot;bar_left&quot;,&quot;fontScale&quot;:1,&quot;iconStyle&quot;:&quot;chunky&quot;,&quot;cjkFont&quot;:&quot;jp&quot;,&quot;isRTL&quot;:false,&quot;colors&quot;:{&quot;accent1&quot;:&quot;#ed7d31&quot;,&quot;accent2&quot;:&quot;#a5a5a5&quot;,&quot;accent3&quot;:&quot;#ffc000&quot;,&quot;accent4&quot;:&quot;#5b9bd5&quot;,&quot;background_accent&quot;:&quot;#e7e6e6&quot;,&quot;background_dark&quot;:&quot;#000000&quot;,&quot;background_light&quot;:&quot;#ffffff&quot;,&quot;chart1&quot;:&quot;#4472c4&quot;,&quot;chart2&quot;:&quot;#ed7d31&quot;,&quot;chart3&quot;:&quot;#a5a5a5&quot;,&quot;chart4&quot;:&quot;#ffc000&quot;,&quot;primary_dark&quot;:&quot;#000000&quot;,&quot;primary_light&quot;:&quot;#ffffff&quot;,&quot;secondary_dark&quot;:&quot;#44546a&quot;,&quot;secondary_light&quot;:&quot;#e7e6e6&quot;,&quot;theme&quot;:&quot;#4472c4&quot;,&quot;chart5&quot;:&quot;#5b9bd5&quot;,&quot;accent5&quot;:&quot;#70ad47&quot;,&quot;chart6&quot;:&quot;#70ad47&quot;,&quot;positive&quot;:&quot;#54C351&quot;,&quot;negative&quot;:&quot;#E04C2B&quot;},&quot;fontHeaderFontId&quot;:&quot;montserrat&quot;,&quot;fontHeaderWeight&quot;:400,&quot;fontHeaderLetterSpacing&quot;:0,&quot;fontHeaderLineHeight&quot;:1.6,&quot;fontHeaderScaling&quot;:100,&quot;fontHeaderTextTransform&quot;:&quot;auto&quot;,&quot;fontTitleFontId&quot;:&quot;montserrat&quot;,&quot;fontTitleWeight&quot;:400,&quot;fontTitleLetterSpacing&quot;:0,&quot;fontTitleLineHeight&quot;:1.6,&quot;fontTitleScaling&quot;:100,&quot;fontTitleTextTransform&quot;:&quot;auto&quot;,&quot;fontBodyFontId&quot;:&quot;montserrat&quot;,&quot;fontBodyWeight&quot;:400,&quot;fontBodyLetterSpacing&quot;:0,&quot;fontBodyLineHeight&quot;:1.6,&quot;fontBodyScaling&quot;:100,&quot;fontBodyTextTransform&quot;:&quot;auto&quot;,&quot;lastThemeEditor&quot;:&quot;simple&quot;}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DC31254-B6A4-4C4C-9FD7-8553E24976C6}">
  <we:reference id="wa200003964" version="1.0.0.0" store="en-US" storeType="OMEX"/>
  <we:alternateReferences>
    <we:reference id="WA200003964" version="1.0.0.0" store="WA200003964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41204</TotalTime>
  <Words>2717</Words>
  <Application>Microsoft Office PowerPoint</Application>
  <PresentationFormat>Widescreen</PresentationFormat>
  <Paragraphs>743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Calibri Light</vt:lpstr>
      <vt:lpstr>Cambria Math</vt:lpstr>
      <vt:lpstr>Retrospect</vt:lpstr>
      <vt:lpstr>The Use of survey weights in machine learning</vt:lpstr>
      <vt:lpstr>Index</vt:lpstr>
      <vt:lpstr>Introduction</vt:lpstr>
      <vt:lpstr>Survey weights</vt:lpstr>
      <vt:lpstr>Survey weights</vt:lpstr>
      <vt:lpstr>Sampling design</vt:lpstr>
      <vt:lpstr>Sampling design</vt:lpstr>
      <vt:lpstr>Sampling design</vt:lpstr>
      <vt:lpstr>Population Prevalence</vt:lpstr>
      <vt:lpstr>Population Prevalence</vt:lpstr>
      <vt:lpstr>Prevalence Estimation Methods</vt:lpstr>
      <vt:lpstr>Direct prevalence estimation</vt:lpstr>
      <vt:lpstr>Direct prevalence estimation</vt:lpstr>
      <vt:lpstr>Direct prevalence estimation</vt:lpstr>
      <vt:lpstr>Logistic model </vt:lpstr>
      <vt:lpstr>Logistic regression</vt:lpstr>
      <vt:lpstr>Logistic General Regression(LGREG)estimators</vt:lpstr>
      <vt:lpstr>Logistic General Regression(LGREG)estimators</vt:lpstr>
      <vt:lpstr>Logistic General Regression(LGREG)estimators</vt:lpstr>
      <vt:lpstr>Neural network method </vt:lpstr>
      <vt:lpstr>Neural network diagram</vt:lpstr>
      <vt:lpstr>Neural network</vt:lpstr>
      <vt:lpstr>Fitting a neural network</vt:lpstr>
      <vt:lpstr>Fitting a neural network</vt:lpstr>
      <vt:lpstr>Point and interval estimates</vt:lpstr>
      <vt:lpstr>Point and interval estimates</vt:lpstr>
      <vt:lpstr>Model-assisted ANN with difference estimator</vt:lpstr>
      <vt:lpstr>Model-assisted ANN with difference estimator</vt:lpstr>
      <vt:lpstr>Simulation settings and results</vt:lpstr>
      <vt:lpstr>PowerPoint Presentation</vt:lpstr>
      <vt:lpstr>PowerPoint Presentation</vt:lpstr>
      <vt:lpstr>Table 3 Simulation results for Disease 1 (prevalence =25.5%) when Gene 1 is observable  </vt:lpstr>
      <vt:lpstr>Simulation results for Disease 1 (prevalence =25.5%) when Gene 1 is observable </vt:lpstr>
      <vt:lpstr>Table 4  Simulation results for Disease 1 (prevalence =25.5%) when Gene 1 is not observable </vt:lpstr>
      <vt:lpstr>Simulation results for Disease 1 (prevalence =25.5%) when Gene 1 is not observable </vt:lpstr>
      <vt:lpstr>Table 5  Simulation results for Disease 2 (prevalence =36.8%) when Gene 2 is observable </vt:lpstr>
      <vt:lpstr>Simulation results for Disease 2 (prevalence =36.8%) when Gene 2 is observable</vt:lpstr>
      <vt:lpstr>Table 6 Simulation results for Disease2 (prevalence= 36.8%) when Gene 2 is not observable   </vt:lpstr>
      <vt:lpstr>Simulation results for Disease2 (prevalence= 36.8%) when Gene 2 is not observable  </vt:lpstr>
      <vt:lpstr>Observation</vt:lpstr>
      <vt:lpstr>Concluding remark</vt:lpstr>
      <vt:lpstr>Concluding remark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Supriya Ganpule</dc:creator>
  <cp:lastModifiedBy>Supriya Ganpule</cp:lastModifiedBy>
  <cp:revision>91</cp:revision>
  <dcterms:created xsi:type="dcterms:W3CDTF">2022-09-08T16:01:53Z</dcterms:created>
  <dcterms:modified xsi:type="dcterms:W3CDTF">2023-04-11T02:51:18Z</dcterms:modified>
</cp:coreProperties>
</file>